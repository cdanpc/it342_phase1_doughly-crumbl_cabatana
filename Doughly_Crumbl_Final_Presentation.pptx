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 TIME: 0:00-0:30 / ~30s]
SCRIPT (read aloud):
"Good day, I'm [Your Name] from [Course and Section]. For our Systems Integration and Architecture final project, my group built Doughly Crumbl - a multi-platform ordering system for an artisan bakery here in Cebu City. It runs on three integrated platforms that share one backend: a Spring Boot REST API, a React web app, and a native Android app."
ACTION: Just be on screen / show this title slide. Smile, speak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 TIME: 0:30-1:00 / ~30s]
SCRIPT:
"Doughly Crumbl is an ordering system for a real artisan bakery in Cebu City. It is composed of three clients that share one backend: a React web app, a native Android app built with Kotlin, and a Spring Boot REST API. The backend stores its data in a PostgreSQL database hosted on Supabase, secures every request with JWT and role-based access, and pushes real-time order notifications to the web app over a WebSocket connection."
OPTIONAL SCREENSHOT: none needed - this is a conceptual overview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 TIME: 1:00-1:30 / ~30s]
SCRIPT:
"Small bakeries usually take orders through Facebook messages, so there's no structured order tracking and payment confirmation is manual and error-prone. Our purpose was to digitize and centralize the whole ordering workflow. The system has three roles: Customers who place and track orders, Admins who manage products, orders, payments and users, and Guests who can view the menu. The overall goal was a working three-platform system that demonstrates REST integration, layered and MVVM architecture, and real-time updates."
OPTIONAL SCREENSHOT: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 TIME: 1:30-2:15 / ~45s]
SCRIPT:
"These are the features we actually implemented. First, authentication with JWT and role-based access. Second, product browsing with search, category filters, and a server-side cart. Third, checkout for delivery or pickup with full order-status tracking and cancellation. Fourth, a manual payment-proof upload flow where customers upload a GCash or Maya screenshot and the admin confirms it. Fifth, real-time notifications pushed to the web client. And sixth, the admin side - managing products, orders, delivery fees, and user accounts. There are also extra touches like order ratings, favorites, and a loyalty merit tier."
NOTE: Mention only what's shown. Google OAuth, automated PayMongo, and email are future work - covered in the Closing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 TIME: 2:15-3:00 / ~45s]
SCRIPT:
"The architecture is client-server with a REST API. On the left, the React web app and the Kotlin Android app both call the same Spring Boot backend over REST using JSON, authenticated with a Bearer JWT token. The backend follows a layered design - controllers receive requests, services hold business logic, repositories handle data access, and JPA entities map to the database, which is PostgreSQL on Supabase. We also applied four classic design patterns in the order flow: Factory to create orders, Adapter to convert entities to DTOs, Strategy to validate status transitions, and Observer to fire notifications."
OPTIONAL: If you have a hand-drawn architecture diagram, you can replace this slide's diagram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 TIME: cover within architecture, ~20-30s]
SCRIPT:
"Here's how the components interact in one real flow. Step one, the customer checks out and the OrderFactory turns the cart into an order. Step two, the admin quotes a delivery fee, which is added to the total. Step three, the customer uploads payment proof, which the file service stores on the server. Step four, the admin confirms and advances the status, validated by the Strategy pattern. And step five, the Observer publishes a notification that's pushed live to the customer over WebSocket. Each request travels from the client through the controller, service, and repository, down to the database, and the response flows back the same way."
OPTIONAL SCREENSHOT: none - keep the pipeline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 TIME: 3:00-5:15 / part of the demo - this is the longest segment]
DO THIS LIVE (screen-share the running app), narrate as you click:
1. "I'll log in as a customer - the backend verifies my password and issues a JWT."
2. "The menu loads from a public products endpoint; I can search and filter by category."
3. "I'll add a couple of items - the cart is stored server-side, tied to my account."
4. "At checkout I choose Delivery and GCash, enter my address, and place the order. The OrderFactory builds the order and clears my cart."
5. "My order now shows under My Orders as 'Awaiting Delivery Quote'."
6. "After the admin sets a fee, I follow the payment instructions and upload my GCash screenshot as proof."
7. "Watch the status update - the notification arrives live over WebSocket."
SCREENSHOTS TO CAPTURE: menu, cart, checkout, my-orders/detail, payment upload.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 TIME: 5:15-6:45 / part of the demo]
DO THIS LIVE (use a second browser window for admin), narrate:
1. "Switching to the admin account - admin routes are RBAC-protected, a customer token can't reach them."
2. "Here's the dashboard and the full orders list."
3. "Since this is a delivery order, I set a delivery fee; it's added to the total and the order moves to 'Payment Required'."
4. "When the customer uploads proof, I get a 'Payment Proof Submitted' notification."
5. "I open the order, view the uploaded proof image, and confirm the payment."
6. "Then I advance it to Preparing, and on to Ready or Out for Delivery - each transition is validated by the Strategy pattern."
7. "Admins can also manage products and ban or restore users, with a guard for the last active admin."
TIP: Keep both windows visible during the notification moment so the live update is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 TIME: 6:45-8:30 / ~1.5 min]
SCRIPT (show files/tabs as you talk):
"To prove the implementation: on the backend you can see the layered structure - the order controller calls the service, which calls the repository, which maps to the Order entity. Here's the security config that enforces JWT and admin-only access, and the WebSocket observer that pushes notifications. On mobile, the same backend is consumed through the Retrofit ApiService, behind a repository and a view model following MVVM. And here in Postman, the API responds with real data; when I call an admin endpoint with a customer token it's rejected with a 403. Finally, here are the live rows in the Supabase database - orders, notifications, and users."
SCREENSHOTS TO CAPTURE: a code file, Postman success, Postman 403, Supabase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 TIME: 8:30-9:00 / ~30s]
SCRIPT:
"For verification: the web app builds cleanly with Vite, the Android app builds successfully with assembleDebug, and the backend connects to Supabase, which we confirmed. We tested the full customer golden path - register, browse, cart, checkout, pay, and track - plus the admin flow of quoting a fee, confirming payment, and moving the order through its statuses. Because both clients use the same endpoints, testing the API validates both platforms. Our test plan and regression report are in the docs folder."
NOTE: Adjust wording to match your final build results on recording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 TIME: 9:00-10:00 / ~30-45s]
SCRIPT:
"To summarize, Doughly Crumbl is a working three-platform ordering system that demonstrates REST integration, a layered backend, MVVM on mobile, real-time WebSocket notifications, and classic design patterns - all applied to a real bakery business. A few items, like Google OAuth, automated PayMongo payments, and email notifications, are configured as future enhancements. Thank you for watching our presentation."
ACTION: End on this slide. Hold for a second before stopping the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A1020"/>
        </a:solidFill>
      </p:bgPr>
    </p:bg>
    <p:spTree>
      <p:nvGrpSpPr>
        <p:cNvPr id="1" name=""/>
        <p:cNvGrpSpPr/>
        <p:nvPr/>
      </p:nvGrpSpPr>
      <p:grpSpPr>
        <a:xfrm>
          <a:off x="0" y="0"/>
          <a:ext cx="0" cy="0"/>
          <a:chOff x="0" y="0"/>
          <a:chExt cx="0" cy="0"/>
        </a:xfrm>
      </p:grpSpPr>
      <p:sp>
        <p:nvSpPr>
          <p:cNvPr id="2" name="Shape 0"/>
          <p:cNvSpPr/>
          <p:nvPr/>
        </p:nvSpPr>
        <p:spPr>
          <a:xfrm>
            <a:off x="7040880" y="-1280160"/>
            <a:ext cx="3840480" cy="3840480"/>
          </a:xfrm>
          <a:prstGeom prst="ellipse">
            <a:avLst/>
          </a:prstGeom>
          <a:solidFill>
            <a:srgbClr val="6B1A2B"/>
          </a:solidFill>
          <a:ln/>
        </p:spPr>
      </p:sp>
      <p:sp>
        <p:nvSpPr>
          <p:cNvPr id="3" name="Shape 1"/>
          <p:cNvSpPr/>
          <p:nvPr/>
        </p:nvSpPr>
        <p:spPr>
          <a:xfrm>
            <a:off x="8138160" y="2926080"/>
            <a:ext cx="2743200" cy="2743200"/>
          </a:xfrm>
          <a:prstGeom prst="ellipse">
            <a:avLst/>
          </a:prstGeom>
          <a:solidFill>
            <a:srgbClr val="6B1A2B"/>
          </a:solidFill>
          <a:ln w="12700">
            <a:solidFill>
              <a:srgbClr val="A26769"/>
            </a:solidFill>
            <a:prstDash val="solid"/>
          </a:ln>
        </p:spPr>
      </p:sp>
      <p:sp>
        <p:nvSpPr>
          <p:cNvPr id="4" name="Shape 2"/>
          <p:cNvSpPr/>
          <p:nvPr/>
        </p:nvSpPr>
        <p:spPr>
          <a:xfrm>
            <a:off x="548640" y="502920"/>
            <a:ext cx="868680" cy="868680"/>
          </a:xfrm>
          <a:prstGeom prst="ellipse">
            <a:avLst/>
          </a:prstGeom>
          <a:solidFill>
            <a:srgbClr val="FFFFFF"/>
          </a:solidFill>
          <a:ln/>
        </p:spPr>
      </p:sp>
      <p:pic>
        <p:nvPicPr>
          <p:cNvPr id="5" name="Image 0" descr="preencoded.png">    </p:cNvPr>
          <p:cNvPicPr>
            <a:picLocks noChangeAspect="1"/>
          </p:cNvPicPr>
          <p:nvPr/>
        </p:nvPicPr>
        <p:blipFill>
          <a:blip r:embed="rId1"/>
          <a:stretch>
            <a:fillRect/>
          </a:stretch>
        </p:blipFill>
        <p:spPr>
          <a:xfrm>
            <a:off x="786384" y="740664"/>
            <a:ext cx="393192" cy="393192"/>
          </a:xfrm>
          <a:prstGeom prst="rect">
            <a:avLst/>
          </a:prstGeom>
        </p:spPr>
      </p:pic>
      <p:sp>
        <p:nvSpPr>
          <p:cNvPr id="6" name="Text 3"/>
          <p:cNvSpPr/>
          <p:nvPr/>
        </p:nvSpPr>
        <p:spPr>
          <a:xfrm>
            <a:off x="548640" y="1783080"/>
            <a:ext cx="7680960" cy="822960"/>
          </a:xfrm>
          <a:prstGeom prst="rect">
            <a:avLst/>
          </a:prstGeom>
          <a:noFill/>
          <a:ln/>
        </p:spPr>
        <p:txBody>
          <a:bodyPr wrap="square" rtlCol="0" anchor="ctr"/>
          <a:lstStyle/>
          <a:p>
            <a:pPr indent="0" marL="0">
              <a:buNone/>
            </a:pPr>
            <a:r>
              <a:rPr lang="en-US" sz="4600" b="1" spc="100" kern="0" dirty="0">
                <a:solidFill>
                  <a:srgbClr val="FFFFFF"/>
                </a:solidFill>
                <a:latin typeface="Georgia" pitchFamily="34" charset="0"/>
                <a:ea typeface="Georgia" pitchFamily="34" charset="-122"/>
                <a:cs typeface="Georgia" pitchFamily="34" charset="-120"/>
              </a:rPr>
              <a:t>DOUGHLY CRUMBL</a:t>
            </a:r>
            <a:endParaRPr lang="en-US" sz="4600" dirty="0"/>
          </a:p>
        </p:txBody>
      </p:sp>
      <p:sp>
        <p:nvSpPr>
          <p:cNvPr id="7" name="Text 4"/>
          <p:cNvSpPr/>
          <p:nvPr/>
        </p:nvSpPr>
        <p:spPr>
          <a:xfrm>
            <a:off x="566928" y="2606040"/>
            <a:ext cx="7863840" cy="457200"/>
          </a:xfrm>
          <a:prstGeom prst="rect">
            <a:avLst/>
          </a:prstGeom>
          <a:noFill/>
          <a:ln/>
        </p:spPr>
        <p:txBody>
          <a:bodyPr wrap="square" rtlCol="0" anchor="ctr"/>
          <a:lstStyle/>
          <a:p>
            <a:pPr indent="0" marL="0">
              <a:buNone/>
            </a:pPr>
            <a:r>
              <a:rPr lang="en-US" sz="1800" i="1" dirty="0">
                <a:solidFill>
                  <a:srgbClr val="F5E8EB"/>
                </a:solidFill>
                <a:latin typeface="Calibri" pitchFamily="34" charset="0"/>
                <a:ea typeface="Calibri" pitchFamily="34" charset="-122"/>
                <a:cs typeface="Calibri" pitchFamily="34" charset="-120"/>
              </a:rPr>
              <a:t>Multi-Platform Artisan Bakery Ordering System</a:t>
            </a:r>
            <a:endParaRPr lang="en-US" sz="1800" dirty="0"/>
          </a:p>
        </p:txBody>
      </p:sp>
      <p:sp>
        <p:nvSpPr>
          <p:cNvPr id="8" name="Text 5"/>
          <p:cNvSpPr/>
          <p:nvPr/>
        </p:nvSpPr>
        <p:spPr>
          <a:xfrm>
            <a:off x="566928" y="3154680"/>
            <a:ext cx="731520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Web  •  Mobile  •  REST API</a:t>
            </a:r>
            <a:endParaRPr lang="en-US" sz="1300" dirty="0"/>
          </a:p>
        </p:txBody>
      </p:sp>
      <p:sp>
        <p:nvSpPr>
          <p:cNvPr id="9" name="Text 6"/>
          <p:cNvSpPr/>
          <p:nvPr/>
        </p:nvSpPr>
        <p:spPr>
          <a:xfrm>
            <a:off x="566928" y="4160520"/>
            <a:ext cx="8229600" cy="365760"/>
          </a:xfrm>
          <a:prstGeom prst="rect">
            <a:avLst/>
          </a:prstGeom>
          <a:noFill/>
          <a:ln/>
        </p:spPr>
        <p:txBody>
          <a:bodyPr wrap="square" rtlCol="0" anchor="ctr"/>
          <a:lstStyle/>
          <a:p>
            <a:pPr indent="0" marL="0">
              <a:buNone/>
            </a:pPr>
            <a:r>
              <a:rPr lang="en-US" sz="1300" dirty="0">
                <a:solidFill>
                  <a:srgbClr val="F5E8EB"/>
                </a:solidFill>
                <a:latin typeface="Calibri" pitchFamily="34" charset="0"/>
                <a:ea typeface="Calibri" pitchFamily="34" charset="-122"/>
                <a:cs typeface="Calibri" pitchFamily="34" charset="-120"/>
              </a:rPr>
              <a:t>Presented by: </a:t>
            </a:r>
            <a:pPr indent="0" marL="0">
              <a:buNone/>
            </a:pPr>
            <a:r>
              <a:rPr lang="en-US" sz="1300" b="1" dirty="0">
                <a:solidFill>
                  <a:srgbClr val="FFFFFF"/>
                </a:solidFill>
                <a:latin typeface="Calibri" pitchFamily="34" charset="0"/>
                <a:ea typeface="Calibri" pitchFamily="34" charset="-122"/>
                <a:cs typeface="Calibri" pitchFamily="34" charset="-120"/>
              </a:rPr>
              <a:t>[Your Name]</a:t>
            </a:r>
            <a:pPr indent="0" marL="0">
              <a:buNone/>
            </a:pPr>
            <a:r>
              <a:rPr lang="en-US" sz="1300" dirty="0">
                <a:solidFill>
                  <a:srgbClr val="A26769"/>
                </a:solidFill>
                <a:latin typeface="Calibri" pitchFamily="34" charset="0"/>
                <a:ea typeface="Calibri" pitchFamily="34" charset="-122"/>
                <a:cs typeface="Calibri" pitchFamily="34" charset="-120"/>
              </a:rPr>
              <a:t>     |     </a:t>
            </a:r>
            <a:pPr indent="0" marL="0">
              <a:buNone/>
            </a:pPr>
            <a:r>
              <a:rPr lang="en-US" sz="1300" b="1" dirty="0">
                <a:solidFill>
                  <a:srgbClr val="FFFFFF"/>
                </a:solidFill>
                <a:latin typeface="Calibri" pitchFamily="34" charset="0"/>
                <a:ea typeface="Calibri" pitchFamily="34" charset="-122"/>
                <a:cs typeface="Calibri" pitchFamily="34" charset="-120"/>
              </a:rPr>
              <a:t>[Course &amp; Section]</a:t>
            </a:r>
            <a:endParaRPr lang="en-US" sz="1300" dirty="0"/>
          </a:p>
        </p:txBody>
      </p:sp>
      <p:sp>
        <p:nvSpPr>
          <p:cNvPr id="10" name="Text 7"/>
          <p:cNvSpPr/>
          <p:nvPr/>
        </p:nvSpPr>
        <p:spPr>
          <a:xfrm>
            <a:off x="566928" y="4572000"/>
            <a:ext cx="8229600" cy="320040"/>
          </a:xfrm>
          <a:prstGeom prst="rect">
            <a:avLst/>
          </a:prstGeom>
          <a:noFill/>
          <a:ln/>
        </p:spPr>
        <p:txBody>
          <a:bodyPr wrap="square" rtlCol="0" anchor="ctr"/>
          <a:lstStyle/>
          <a:p>
            <a:pPr indent="0" marL="0">
              <a:buNone/>
            </a:pPr>
            <a:r>
              <a:rPr lang="en-US" sz="1100" dirty="0">
                <a:solidFill>
                  <a:srgbClr val="A26769"/>
                </a:solidFill>
                <a:latin typeface="Calibri" pitchFamily="34" charset="0"/>
                <a:ea typeface="Calibri" pitchFamily="34" charset="-122"/>
                <a:cs typeface="Calibri" pitchFamily="34" charset="-120"/>
              </a:rPr>
              <a:t>Systems Integration and Architecture  —  Final Project Presentation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566928" cy="566928"/>
          </a:xfrm>
          <a:prstGeom prst="ellipse">
            <a:avLst/>
          </a:prstGeom>
          <a:solidFill>
            <a:srgbClr val="6B1A2B"/>
          </a:solidFill>
          <a:ln/>
          <a:effectLst>
            <a:outerShdw sx="100000" sy="100000" kx="0" ky="0" algn="bl" rotWithShape="0" blurRad="63500" dist="25400" dir="81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690372" y="507492"/>
            <a:ext cx="283464" cy="283464"/>
          </a:xfrm>
          <a:prstGeom prst="rect">
            <a:avLst/>
          </a:prstGeom>
        </p:spPr>
      </p:pic>
      <p:sp>
        <p:nvSpPr>
          <p:cNvPr id="4" name="Text 1"/>
          <p:cNvSpPr/>
          <p:nvPr/>
        </p:nvSpPr>
        <p:spPr>
          <a:xfrm>
            <a:off x="1280160" y="365760"/>
            <a:ext cx="7498080" cy="566928"/>
          </a:xfrm>
          <a:prstGeom prst="rect">
            <a:avLst/>
          </a:prstGeom>
          <a:noFill/>
          <a:ln/>
        </p:spPr>
        <p:txBody>
          <a:bodyPr wrap="square" lIns="0" tIns="0" rIns="0" bIns="0" rtlCol="0" anchor="ctr"/>
          <a:lstStyle/>
          <a:p>
            <a:pPr indent="0" marL="0">
              <a:buNone/>
            </a:pPr>
            <a:r>
              <a:rPr lang="en-US" sz="3000" b="1" dirty="0">
                <a:solidFill>
                  <a:srgbClr val="6B1A2B"/>
                </a:solidFill>
                <a:latin typeface="Georgia" pitchFamily="34" charset="0"/>
                <a:ea typeface="Georgia" pitchFamily="34" charset="-122"/>
                <a:cs typeface="Georgia" pitchFamily="34" charset="-120"/>
              </a:rPr>
              <a:t>System Overview</a:t>
            </a:r>
            <a:endParaRPr lang="en-US" sz="3000" dirty="0"/>
          </a:p>
        </p:txBody>
      </p:sp>
      <p:sp>
        <p:nvSpPr>
          <p:cNvPr id="5" name="Text 2"/>
          <p:cNvSpPr/>
          <p:nvPr/>
        </p:nvSpPr>
        <p:spPr>
          <a:xfrm>
            <a:off x="548640" y="1143000"/>
            <a:ext cx="8229600" cy="640080"/>
          </a:xfrm>
          <a:prstGeom prst="rect">
            <a:avLst/>
          </a:prstGeom>
          <a:noFill/>
          <a:ln/>
        </p:spPr>
        <p:txBody>
          <a:bodyPr wrap="square" rtlCol="0" anchor="ctr"/>
          <a:lstStyle/>
          <a:p>
            <a:pPr indent="0" marL="0">
              <a:buNone/>
            </a:pPr>
            <a:r>
              <a:rPr lang="en-US" sz="1500" dirty="0">
                <a:solidFill>
                  <a:srgbClr val="1A1A2E"/>
                </a:solidFill>
                <a:latin typeface="Calibri" pitchFamily="34" charset="0"/>
                <a:ea typeface="Calibri" pitchFamily="34" charset="-122"/>
                <a:cs typeface="Calibri" pitchFamily="34" charset="-120"/>
              </a:rPr>
              <a:t>An e-commerce ordering system for a real artisan bakery in Cebu City, built on three clients that all talk to one shared backend.</a:t>
            </a:r>
            <a:endParaRPr lang="en-US" sz="1500" dirty="0"/>
          </a:p>
        </p:txBody>
      </p:sp>
      <p:sp>
        <p:nvSpPr>
          <p:cNvPr id="6" name="Shape 3"/>
          <p:cNvSpPr/>
          <p:nvPr/>
        </p:nvSpPr>
        <p:spPr>
          <a:xfrm>
            <a:off x="548640" y="1965960"/>
            <a:ext cx="2560320" cy="1600200"/>
          </a:xfrm>
          <a:prstGeom prst="roundRect">
            <a:avLst>
              <a:gd name="adj" fmla="val 5714"/>
            </a:avLst>
          </a:prstGeom>
          <a:solidFill>
            <a:srgbClr val="F5E8EB"/>
          </a:solidFill>
          <a:ln/>
          <a:effectLst>
            <a:outerShdw sx="100000" sy="100000" kx="0" ky="0" algn="bl" rotWithShape="0" blurRad="63500" dist="25400" dir="8100000">
              <a:srgbClr val="000000">
                <a:alpha val="12000"/>
              </a:srgbClr>
            </a:outerShdw>
          </a:effectLst>
        </p:spPr>
      </p:sp>
      <p:sp>
        <p:nvSpPr>
          <p:cNvPr id="7" name="Shape 4"/>
          <p:cNvSpPr/>
          <p:nvPr/>
        </p:nvSpPr>
        <p:spPr>
          <a:xfrm>
            <a:off x="1554480" y="2194560"/>
            <a:ext cx="548640" cy="548640"/>
          </a:xfrm>
          <a:prstGeom prst="ellipse">
            <a:avLst/>
          </a:prstGeom>
          <a:solidFill>
            <a:srgbClr val="6B1A2B"/>
          </a:solidFill>
          <a:ln/>
        </p:spPr>
      </p:sp>
      <p:pic>
        <p:nvPicPr>
          <p:cNvPr id="8" name="Image 1" descr="preencoded.png">    </p:cNvPr>
          <p:cNvPicPr>
            <a:picLocks noChangeAspect="1"/>
          </p:cNvPicPr>
          <p:nvPr/>
        </p:nvPicPr>
        <p:blipFill>
          <a:blip r:embed="rId2"/>
          <a:stretch>
            <a:fillRect/>
          </a:stretch>
        </p:blipFill>
        <p:spPr>
          <a:xfrm>
            <a:off x="1691640" y="2331720"/>
            <a:ext cx="274320" cy="274320"/>
          </a:xfrm>
          <a:prstGeom prst="rect">
            <a:avLst/>
          </a:prstGeom>
        </p:spPr>
      </p:pic>
      <p:sp>
        <p:nvSpPr>
          <p:cNvPr id="9" name="Text 5"/>
          <p:cNvSpPr/>
          <p:nvPr/>
        </p:nvSpPr>
        <p:spPr>
          <a:xfrm>
            <a:off x="548640" y="2788920"/>
            <a:ext cx="2560320" cy="320040"/>
          </a:xfrm>
          <a:prstGeom prst="rect">
            <a:avLst/>
          </a:prstGeom>
          <a:noFill/>
          <a:ln/>
        </p:spPr>
        <p:txBody>
          <a:bodyPr wrap="square" rtlCol="0" anchor="ctr"/>
          <a:lstStyle/>
          <a:p>
            <a:pPr algn="ctr" indent="0" marL="0">
              <a:buNone/>
            </a:pPr>
            <a:r>
              <a:rPr lang="en-US" sz="1600" b="1" dirty="0">
                <a:solidFill>
                  <a:srgbClr val="6B1A2B"/>
                </a:solidFill>
                <a:latin typeface="Georgia" pitchFamily="34" charset="0"/>
                <a:ea typeface="Georgia" pitchFamily="34" charset="-122"/>
                <a:cs typeface="Georgia" pitchFamily="34" charset="-120"/>
              </a:rPr>
              <a:t>Web App</a:t>
            </a:r>
            <a:endParaRPr lang="en-US" sz="1600" dirty="0"/>
          </a:p>
        </p:txBody>
      </p:sp>
      <p:sp>
        <p:nvSpPr>
          <p:cNvPr id="10" name="Text 6"/>
          <p:cNvSpPr/>
          <p:nvPr/>
        </p:nvSpPr>
        <p:spPr>
          <a:xfrm>
            <a:off x="685800" y="3108960"/>
            <a:ext cx="2286000" cy="411480"/>
          </a:xfrm>
          <a:prstGeom prst="rect">
            <a:avLst/>
          </a:prstGeom>
          <a:noFill/>
          <a:ln/>
        </p:spPr>
        <p:txBody>
          <a:bodyPr wrap="square" rtlCol="0" anchor="ctr"/>
          <a:lstStyle/>
          <a:p>
            <a:pPr algn="ctr" indent="0" marL="0">
              <a:buNone/>
            </a:pPr>
            <a:r>
              <a:rPr lang="en-US" sz="1150" dirty="0">
                <a:solidFill>
                  <a:srgbClr val="6B6B6B"/>
                </a:solidFill>
                <a:latin typeface="Calibri" pitchFamily="34" charset="0"/>
                <a:ea typeface="Calibri" pitchFamily="34" charset="-122"/>
                <a:cs typeface="Calibri" pitchFamily="34" charset="-120"/>
              </a:rPr>
              <a:t>React 18 + Vite + TypeScript</a:t>
            </a:r>
            <a:endParaRPr lang="en-US" sz="1150" dirty="0"/>
          </a:p>
        </p:txBody>
      </p:sp>
      <p:sp>
        <p:nvSpPr>
          <p:cNvPr id="11" name="Shape 7"/>
          <p:cNvSpPr/>
          <p:nvPr/>
        </p:nvSpPr>
        <p:spPr>
          <a:xfrm>
            <a:off x="3337560" y="1965960"/>
            <a:ext cx="2560320" cy="1600200"/>
          </a:xfrm>
          <a:prstGeom prst="roundRect">
            <a:avLst>
              <a:gd name="adj" fmla="val 5714"/>
            </a:avLst>
          </a:prstGeom>
          <a:solidFill>
            <a:srgbClr val="F5E8EB"/>
          </a:solidFill>
          <a:ln/>
          <a:effectLst>
            <a:outerShdw sx="100000" sy="100000" kx="0" ky="0" algn="bl" rotWithShape="0" blurRad="63500" dist="25400" dir="8100000">
              <a:srgbClr val="000000">
                <a:alpha val="12000"/>
              </a:srgbClr>
            </a:outerShdw>
          </a:effectLst>
        </p:spPr>
      </p:sp>
      <p:sp>
        <p:nvSpPr>
          <p:cNvPr id="12" name="Shape 8"/>
          <p:cNvSpPr/>
          <p:nvPr/>
        </p:nvSpPr>
        <p:spPr>
          <a:xfrm>
            <a:off x="4343400" y="2194560"/>
            <a:ext cx="548640" cy="548640"/>
          </a:xfrm>
          <a:prstGeom prst="ellipse">
            <a:avLst/>
          </a:prstGeom>
          <a:solidFill>
            <a:srgbClr val="6B1A2B"/>
          </a:solidFill>
          <a:ln/>
        </p:spPr>
      </p:sp>
      <p:pic>
        <p:nvPicPr>
          <p:cNvPr id="13" name="Image 2" descr="preencoded.png">    </p:cNvPr>
          <p:cNvPicPr>
            <a:picLocks noChangeAspect="1"/>
          </p:cNvPicPr>
          <p:nvPr/>
        </p:nvPicPr>
        <p:blipFill>
          <a:blip r:embed="rId3"/>
          <a:stretch>
            <a:fillRect/>
          </a:stretch>
        </p:blipFill>
        <p:spPr>
          <a:xfrm>
            <a:off x="4480560" y="2331720"/>
            <a:ext cx="274320" cy="274320"/>
          </a:xfrm>
          <a:prstGeom prst="rect">
            <a:avLst/>
          </a:prstGeom>
        </p:spPr>
      </p:pic>
      <p:sp>
        <p:nvSpPr>
          <p:cNvPr id="14" name="Text 9"/>
          <p:cNvSpPr/>
          <p:nvPr/>
        </p:nvSpPr>
        <p:spPr>
          <a:xfrm>
            <a:off x="3337560" y="2788920"/>
            <a:ext cx="2560320" cy="320040"/>
          </a:xfrm>
          <a:prstGeom prst="rect">
            <a:avLst/>
          </a:prstGeom>
          <a:noFill/>
          <a:ln/>
        </p:spPr>
        <p:txBody>
          <a:bodyPr wrap="square" rtlCol="0" anchor="ctr"/>
          <a:lstStyle/>
          <a:p>
            <a:pPr algn="ctr" indent="0" marL="0">
              <a:buNone/>
            </a:pPr>
            <a:r>
              <a:rPr lang="en-US" sz="1600" b="1" dirty="0">
                <a:solidFill>
                  <a:srgbClr val="6B1A2B"/>
                </a:solidFill>
                <a:latin typeface="Georgia" pitchFamily="34" charset="0"/>
                <a:ea typeface="Georgia" pitchFamily="34" charset="-122"/>
                <a:cs typeface="Georgia" pitchFamily="34" charset="-120"/>
              </a:rPr>
              <a:t>Mobile App</a:t>
            </a:r>
            <a:endParaRPr lang="en-US" sz="1600" dirty="0"/>
          </a:p>
        </p:txBody>
      </p:sp>
      <p:sp>
        <p:nvSpPr>
          <p:cNvPr id="15" name="Text 10"/>
          <p:cNvSpPr/>
          <p:nvPr/>
        </p:nvSpPr>
        <p:spPr>
          <a:xfrm>
            <a:off x="3474720" y="3108960"/>
            <a:ext cx="2286000" cy="411480"/>
          </a:xfrm>
          <a:prstGeom prst="rect">
            <a:avLst/>
          </a:prstGeom>
          <a:noFill/>
          <a:ln/>
        </p:spPr>
        <p:txBody>
          <a:bodyPr wrap="square" rtlCol="0" anchor="ctr"/>
          <a:lstStyle/>
          <a:p>
            <a:pPr algn="ctr" indent="0" marL="0">
              <a:buNone/>
            </a:pPr>
            <a:r>
              <a:rPr lang="en-US" sz="1150" dirty="0">
                <a:solidFill>
                  <a:srgbClr val="6B6B6B"/>
                </a:solidFill>
                <a:latin typeface="Calibri" pitchFamily="34" charset="0"/>
                <a:ea typeface="Calibri" pitchFamily="34" charset="-122"/>
                <a:cs typeface="Calibri" pitchFamily="34" charset="-120"/>
              </a:rPr>
              <a:t>Android (Kotlin, MVVM, Retrofit)</a:t>
            </a:r>
            <a:endParaRPr lang="en-US" sz="1150" dirty="0"/>
          </a:p>
        </p:txBody>
      </p:sp>
      <p:sp>
        <p:nvSpPr>
          <p:cNvPr id="16" name="Shape 11"/>
          <p:cNvSpPr/>
          <p:nvPr/>
        </p:nvSpPr>
        <p:spPr>
          <a:xfrm>
            <a:off x="6126480" y="1965960"/>
            <a:ext cx="2560320" cy="1600200"/>
          </a:xfrm>
          <a:prstGeom prst="roundRect">
            <a:avLst>
              <a:gd name="adj" fmla="val 5714"/>
            </a:avLst>
          </a:prstGeom>
          <a:solidFill>
            <a:srgbClr val="F5E8EB"/>
          </a:solidFill>
          <a:ln/>
          <a:effectLst>
            <a:outerShdw sx="100000" sy="100000" kx="0" ky="0" algn="bl" rotWithShape="0" blurRad="63500" dist="25400" dir="8100000">
              <a:srgbClr val="000000">
                <a:alpha val="12000"/>
              </a:srgbClr>
            </a:outerShdw>
          </a:effectLst>
        </p:spPr>
      </p:sp>
      <p:sp>
        <p:nvSpPr>
          <p:cNvPr id="17" name="Shape 12"/>
          <p:cNvSpPr/>
          <p:nvPr/>
        </p:nvSpPr>
        <p:spPr>
          <a:xfrm>
            <a:off x="7132320" y="2194560"/>
            <a:ext cx="548640" cy="548640"/>
          </a:xfrm>
          <a:prstGeom prst="ellipse">
            <a:avLst/>
          </a:prstGeom>
          <a:solidFill>
            <a:srgbClr val="6B1A2B"/>
          </a:solidFill>
          <a:ln/>
        </p:spPr>
      </p:sp>
      <p:pic>
        <p:nvPicPr>
          <p:cNvPr id="18" name="Image 3" descr="preencoded.png">    </p:cNvPr>
          <p:cNvPicPr>
            <a:picLocks noChangeAspect="1"/>
          </p:cNvPicPr>
          <p:nvPr/>
        </p:nvPicPr>
        <p:blipFill>
          <a:blip r:embed="rId4"/>
          <a:stretch>
            <a:fillRect/>
          </a:stretch>
        </p:blipFill>
        <p:spPr>
          <a:xfrm>
            <a:off x="7269480" y="2331720"/>
            <a:ext cx="274320" cy="274320"/>
          </a:xfrm>
          <a:prstGeom prst="rect">
            <a:avLst/>
          </a:prstGeom>
        </p:spPr>
      </p:pic>
      <p:sp>
        <p:nvSpPr>
          <p:cNvPr id="19" name="Text 13"/>
          <p:cNvSpPr/>
          <p:nvPr/>
        </p:nvSpPr>
        <p:spPr>
          <a:xfrm>
            <a:off x="6126480" y="2788920"/>
            <a:ext cx="2560320" cy="320040"/>
          </a:xfrm>
          <a:prstGeom prst="rect">
            <a:avLst/>
          </a:prstGeom>
          <a:noFill/>
          <a:ln/>
        </p:spPr>
        <p:txBody>
          <a:bodyPr wrap="square" rtlCol="0" anchor="ctr"/>
          <a:lstStyle/>
          <a:p>
            <a:pPr algn="ctr" indent="0" marL="0">
              <a:buNone/>
            </a:pPr>
            <a:r>
              <a:rPr lang="en-US" sz="1600" b="1" dirty="0">
                <a:solidFill>
                  <a:srgbClr val="6B1A2B"/>
                </a:solidFill>
                <a:latin typeface="Georgia" pitchFamily="34" charset="0"/>
                <a:ea typeface="Georgia" pitchFamily="34" charset="-122"/>
                <a:cs typeface="Georgia" pitchFamily="34" charset="-120"/>
              </a:rPr>
              <a:t>Backend API</a:t>
            </a:r>
            <a:endParaRPr lang="en-US" sz="1600" dirty="0"/>
          </a:p>
        </p:txBody>
      </p:sp>
      <p:sp>
        <p:nvSpPr>
          <p:cNvPr id="20" name="Text 14"/>
          <p:cNvSpPr/>
          <p:nvPr/>
        </p:nvSpPr>
        <p:spPr>
          <a:xfrm>
            <a:off x="6263640" y="3108960"/>
            <a:ext cx="2286000" cy="411480"/>
          </a:xfrm>
          <a:prstGeom prst="rect">
            <a:avLst/>
          </a:prstGeom>
          <a:noFill/>
          <a:ln/>
        </p:spPr>
        <p:txBody>
          <a:bodyPr wrap="square" rtlCol="0" anchor="ctr"/>
          <a:lstStyle/>
          <a:p>
            <a:pPr algn="ctr" indent="0" marL="0">
              <a:buNone/>
            </a:pPr>
            <a:r>
              <a:rPr lang="en-US" sz="1150" dirty="0">
                <a:solidFill>
                  <a:srgbClr val="6B6B6B"/>
                </a:solidFill>
                <a:latin typeface="Calibri" pitchFamily="34" charset="0"/>
                <a:ea typeface="Calibri" pitchFamily="34" charset="-122"/>
                <a:cs typeface="Calibri" pitchFamily="34" charset="-120"/>
              </a:rPr>
              <a:t>Spring Boot 3 • Java 17 • REST</a:t>
            </a:r>
            <a:endParaRPr lang="en-US" sz="1150" dirty="0"/>
          </a:p>
        </p:txBody>
      </p:sp>
      <p:sp>
        <p:nvSpPr>
          <p:cNvPr id="21" name="Shape 15"/>
          <p:cNvSpPr/>
          <p:nvPr/>
        </p:nvSpPr>
        <p:spPr>
          <a:xfrm>
            <a:off x="548640" y="3794760"/>
            <a:ext cx="8046720" cy="868680"/>
          </a:xfrm>
          <a:prstGeom prst="roundRect">
            <a:avLst>
              <a:gd name="adj" fmla="val 8421"/>
            </a:avLst>
          </a:prstGeom>
          <a:solidFill>
            <a:srgbClr val="FFFFFF"/>
          </a:solidFill>
          <a:ln w="12700">
            <a:solidFill>
              <a:srgbClr val="E8E0D8"/>
            </a:solidFill>
            <a:prstDash val="solid"/>
          </a:ln>
        </p:spPr>
      </p:sp>
      <p:sp>
        <p:nvSpPr>
          <p:cNvPr id="22" name="Text 16"/>
          <p:cNvSpPr/>
          <p:nvPr/>
        </p:nvSpPr>
        <p:spPr>
          <a:xfrm>
            <a:off x="731520" y="3794760"/>
            <a:ext cx="7680960" cy="868680"/>
          </a:xfrm>
          <a:prstGeom prst="rect">
            <a:avLst/>
          </a:prstGeom>
          <a:noFill/>
          <a:ln/>
        </p:spPr>
        <p:txBody>
          <a:bodyPr wrap="square" rtlCol="0" anchor="ctr"/>
          <a:lstStyle/>
          <a:p>
            <a:pPr indent="0" marL="0">
              <a:buNone/>
            </a:pPr>
            <a:r>
              <a:rPr lang="en-US" sz="1250" b="1" dirty="0">
                <a:solidFill>
                  <a:srgbClr val="6B1A2B"/>
                </a:solidFill>
                <a:latin typeface="Calibri" pitchFamily="34" charset="0"/>
                <a:ea typeface="Calibri" pitchFamily="34" charset="-122"/>
                <a:cs typeface="Calibri" pitchFamily="34" charset="-120"/>
              </a:rPr>
              <a:t>Database:  </a:t>
            </a:r>
            <a:pPr indent="0" marL="0">
              <a:buNone/>
            </a:pPr>
            <a:r>
              <a:rPr lang="en-US" sz="1250" dirty="0">
                <a:solidFill>
                  <a:srgbClr val="1A1A2E"/>
                </a:solidFill>
                <a:latin typeface="Calibri" pitchFamily="34" charset="0"/>
                <a:ea typeface="Calibri" pitchFamily="34" charset="-122"/>
                <a:cs typeface="Calibri" pitchFamily="34" charset="-120"/>
              </a:rPr>
              <a:t>PostgreSQL on Supabase   </a:t>
            </a:r>
            <a:pPr indent="0" marL="0">
              <a:buNone/>
            </a:pPr>
            <a:r>
              <a:rPr lang="en-US" sz="1250" b="1" dirty="0">
                <a:solidFill>
                  <a:srgbClr val="6B1A2B"/>
                </a:solidFill>
                <a:latin typeface="Calibri" pitchFamily="34" charset="0"/>
                <a:ea typeface="Calibri" pitchFamily="34" charset="-122"/>
                <a:cs typeface="Calibri" pitchFamily="34" charset="-120"/>
              </a:rPr>
              <a:t>Security:  </a:t>
            </a:r>
            <a:pPr indent="0" marL="0">
              <a:buNone/>
            </a:pPr>
            <a:r>
              <a:rPr lang="en-US" sz="1250" dirty="0">
                <a:solidFill>
                  <a:srgbClr val="1A1A2E"/>
                </a:solidFill>
                <a:latin typeface="Calibri" pitchFamily="34" charset="0"/>
                <a:ea typeface="Calibri" pitchFamily="34" charset="-122"/>
                <a:cs typeface="Calibri" pitchFamily="34" charset="-120"/>
              </a:rPr>
              <a:t>JWT + role-based access   </a:t>
            </a:r>
            <a:pPr indent="0" marL="0">
              <a:buNone/>
            </a:pPr>
            <a:r>
              <a:rPr lang="en-US" sz="1250" b="1" dirty="0">
                <a:solidFill>
                  <a:srgbClr val="6B1A2B"/>
                </a:solidFill>
                <a:latin typeface="Calibri" pitchFamily="34" charset="0"/>
                <a:ea typeface="Calibri" pitchFamily="34" charset="-122"/>
                <a:cs typeface="Calibri" pitchFamily="34" charset="-120"/>
              </a:rPr>
              <a:t>Realtime:  </a:t>
            </a:r>
            <a:pPr indent="0" marL="0">
              <a:buNone/>
            </a:pPr>
            <a:r>
              <a:rPr lang="en-US" sz="1250" dirty="0">
                <a:solidFill>
                  <a:srgbClr val="1A1A2E"/>
                </a:solidFill>
                <a:latin typeface="Calibri" pitchFamily="34" charset="0"/>
                <a:ea typeface="Calibri" pitchFamily="34" charset="-122"/>
                <a:cs typeface="Calibri" pitchFamily="34" charset="-120"/>
              </a:rPr>
              <a:t>WebSocket notifications (web)</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566928" cy="566928"/>
          </a:xfrm>
          <a:prstGeom prst="ellipse">
            <a:avLst/>
          </a:prstGeom>
          <a:solidFill>
            <a:srgbClr val="6B1A2B"/>
          </a:solidFill>
          <a:ln/>
          <a:effectLst>
            <a:outerShdw sx="100000" sy="100000" kx="0" ky="0" algn="bl" rotWithShape="0" blurRad="63500" dist="25400" dir="81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690372" y="507492"/>
            <a:ext cx="283464" cy="283464"/>
          </a:xfrm>
          <a:prstGeom prst="rect">
            <a:avLst/>
          </a:prstGeom>
        </p:spPr>
      </p:pic>
      <p:sp>
        <p:nvSpPr>
          <p:cNvPr id="4" name="Text 1"/>
          <p:cNvSpPr/>
          <p:nvPr/>
        </p:nvSpPr>
        <p:spPr>
          <a:xfrm>
            <a:off x="1280160" y="365760"/>
            <a:ext cx="7498080" cy="566928"/>
          </a:xfrm>
          <a:prstGeom prst="rect">
            <a:avLst/>
          </a:prstGeom>
          <a:noFill/>
          <a:ln/>
        </p:spPr>
        <p:txBody>
          <a:bodyPr wrap="square" lIns="0" tIns="0" rIns="0" bIns="0" rtlCol="0" anchor="ctr"/>
          <a:lstStyle/>
          <a:p>
            <a:pPr indent="0" marL="0">
              <a:buNone/>
            </a:pPr>
            <a:r>
              <a:rPr lang="en-US" sz="3000" b="1" dirty="0">
                <a:solidFill>
                  <a:srgbClr val="6B1A2B"/>
                </a:solidFill>
                <a:latin typeface="Georgia" pitchFamily="34" charset="0"/>
                <a:ea typeface="Georgia" pitchFamily="34" charset="-122"/>
                <a:cs typeface="Georgia" pitchFamily="34" charset="-120"/>
              </a:rPr>
              <a:t>Problem, Purpose, Users &amp; Goal</a:t>
            </a:r>
            <a:endParaRPr lang="en-US" sz="3000" dirty="0"/>
          </a:p>
        </p:txBody>
      </p:sp>
      <p:sp>
        <p:nvSpPr>
          <p:cNvPr id="5" name="Shape 2"/>
          <p:cNvSpPr/>
          <p:nvPr/>
        </p:nvSpPr>
        <p:spPr>
          <a:xfrm>
            <a:off x="548640" y="1234440"/>
            <a:ext cx="3886200" cy="1600200"/>
          </a:xfrm>
          <a:prstGeom prst="roundRect">
            <a:avLst>
              <a:gd name="adj" fmla="val 4571"/>
            </a:avLst>
          </a:prstGeom>
          <a:solidFill>
            <a:srgbClr val="F5E8EB"/>
          </a:solidFill>
          <a:ln w="12700">
            <a:solidFill>
              <a:srgbClr val="E8E0D8"/>
            </a:solidFill>
            <a:prstDash val="solid"/>
          </a:ln>
          <a:effectLst>
            <a:outerShdw sx="100000" sy="100000" kx="0" ky="0" algn="bl" rotWithShape="0" blurRad="63500" dist="25400" dir="8100000">
              <a:srgbClr val="000000">
                <a:alpha val="12000"/>
              </a:srgbClr>
            </a:outerShdw>
          </a:effectLst>
        </p:spPr>
      </p:sp>
      <p:sp>
        <p:nvSpPr>
          <p:cNvPr id="6" name="Shape 3"/>
          <p:cNvSpPr/>
          <p:nvPr/>
        </p:nvSpPr>
        <p:spPr>
          <a:xfrm>
            <a:off x="749808" y="1463040"/>
            <a:ext cx="548640" cy="548640"/>
          </a:xfrm>
          <a:prstGeom prst="ellipse">
            <a:avLst/>
          </a:prstGeom>
          <a:solidFill>
            <a:srgbClr val="6B1A2B"/>
          </a:solidFill>
          <a:ln/>
        </p:spPr>
      </p:sp>
      <p:pic>
        <p:nvPicPr>
          <p:cNvPr id="7" name="Image 1" descr="preencoded.png">    </p:cNvPr>
          <p:cNvPicPr>
            <a:picLocks noChangeAspect="1"/>
          </p:cNvPicPr>
          <p:nvPr/>
        </p:nvPicPr>
        <p:blipFill>
          <a:blip r:embed="rId2"/>
          <a:stretch>
            <a:fillRect/>
          </a:stretch>
        </p:blipFill>
        <p:spPr>
          <a:xfrm>
            <a:off x="886968" y="1600200"/>
            <a:ext cx="274320" cy="274320"/>
          </a:xfrm>
          <a:prstGeom prst="rect">
            <a:avLst/>
          </a:prstGeom>
        </p:spPr>
      </p:pic>
      <p:sp>
        <p:nvSpPr>
          <p:cNvPr id="8" name="Text 4"/>
          <p:cNvSpPr/>
          <p:nvPr/>
        </p:nvSpPr>
        <p:spPr>
          <a:xfrm>
            <a:off x="1417320" y="1435608"/>
            <a:ext cx="2834640" cy="411480"/>
          </a:xfrm>
          <a:prstGeom prst="rect">
            <a:avLst/>
          </a:prstGeom>
          <a:noFill/>
          <a:ln/>
        </p:spPr>
        <p:txBody>
          <a:bodyPr wrap="square" lIns="0" tIns="0" rIns="0" bIns="0" rtlCol="0" anchor="ctr"/>
          <a:lstStyle/>
          <a:p>
            <a:pPr indent="0" marL="0">
              <a:buNone/>
            </a:pPr>
            <a:r>
              <a:rPr lang="en-US" sz="1700" b="1" dirty="0">
                <a:solidFill>
                  <a:srgbClr val="6B1A2B"/>
                </a:solidFill>
                <a:latin typeface="Georgia" pitchFamily="34" charset="0"/>
                <a:ea typeface="Georgia" pitchFamily="34" charset="-122"/>
                <a:cs typeface="Georgia" pitchFamily="34" charset="-120"/>
              </a:rPr>
              <a:t>Problem</a:t>
            </a:r>
            <a:endParaRPr lang="en-US" sz="1700" dirty="0"/>
          </a:p>
        </p:txBody>
      </p:sp>
      <p:sp>
        <p:nvSpPr>
          <p:cNvPr id="9" name="Text 5"/>
          <p:cNvSpPr/>
          <p:nvPr/>
        </p:nvSpPr>
        <p:spPr>
          <a:xfrm>
            <a:off x="1417320" y="1856232"/>
            <a:ext cx="2880360" cy="86868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Small bakeries take orders via Facebook DMs - no structured tracking, manual &amp; error-prone payment confirmation.</a:t>
            </a:r>
            <a:endParaRPr lang="en-US" sz="1150" dirty="0"/>
          </a:p>
        </p:txBody>
      </p:sp>
      <p:sp>
        <p:nvSpPr>
          <p:cNvPr id="10" name="Shape 6"/>
          <p:cNvSpPr/>
          <p:nvPr/>
        </p:nvSpPr>
        <p:spPr>
          <a:xfrm>
            <a:off x="4709160" y="1234440"/>
            <a:ext cx="3886200" cy="1600200"/>
          </a:xfrm>
          <a:prstGeom prst="roundRect">
            <a:avLst>
              <a:gd name="adj" fmla="val 4571"/>
            </a:avLst>
          </a:prstGeom>
          <a:solidFill>
            <a:srgbClr val="FFFFFF"/>
          </a:solidFill>
          <a:ln w="12700">
            <a:solidFill>
              <a:srgbClr val="E8E0D8"/>
            </a:solidFill>
            <a:prstDash val="solid"/>
          </a:ln>
          <a:effectLst>
            <a:outerShdw sx="100000" sy="100000" kx="0" ky="0" algn="bl" rotWithShape="0" blurRad="63500" dist="25400" dir="8100000">
              <a:srgbClr val="000000">
                <a:alpha val="12000"/>
              </a:srgbClr>
            </a:outerShdw>
          </a:effectLst>
        </p:spPr>
      </p:sp>
      <p:sp>
        <p:nvSpPr>
          <p:cNvPr id="11" name="Shape 7"/>
          <p:cNvSpPr/>
          <p:nvPr/>
        </p:nvSpPr>
        <p:spPr>
          <a:xfrm>
            <a:off x="4910328" y="1463040"/>
            <a:ext cx="548640" cy="548640"/>
          </a:xfrm>
          <a:prstGeom prst="ellipse">
            <a:avLst/>
          </a:prstGeom>
          <a:solidFill>
            <a:srgbClr val="6B1A2B"/>
          </a:solidFill>
          <a:ln/>
        </p:spPr>
      </p:sp>
      <p:pic>
        <p:nvPicPr>
          <p:cNvPr id="12" name="Image 2" descr="preencoded.png">    </p:cNvPr>
          <p:cNvPicPr>
            <a:picLocks noChangeAspect="1"/>
          </p:cNvPicPr>
          <p:nvPr/>
        </p:nvPicPr>
        <p:blipFill>
          <a:blip r:embed="rId3"/>
          <a:stretch>
            <a:fillRect/>
          </a:stretch>
        </p:blipFill>
        <p:spPr>
          <a:xfrm>
            <a:off x="5047488" y="1600200"/>
            <a:ext cx="274320" cy="274320"/>
          </a:xfrm>
          <a:prstGeom prst="rect">
            <a:avLst/>
          </a:prstGeom>
        </p:spPr>
      </p:pic>
      <p:sp>
        <p:nvSpPr>
          <p:cNvPr id="13" name="Text 8"/>
          <p:cNvSpPr/>
          <p:nvPr/>
        </p:nvSpPr>
        <p:spPr>
          <a:xfrm>
            <a:off x="5577840" y="1435608"/>
            <a:ext cx="2834640" cy="411480"/>
          </a:xfrm>
          <a:prstGeom prst="rect">
            <a:avLst/>
          </a:prstGeom>
          <a:noFill/>
          <a:ln/>
        </p:spPr>
        <p:txBody>
          <a:bodyPr wrap="square" lIns="0" tIns="0" rIns="0" bIns="0" rtlCol="0" anchor="ctr"/>
          <a:lstStyle/>
          <a:p>
            <a:pPr indent="0" marL="0">
              <a:buNone/>
            </a:pPr>
            <a:r>
              <a:rPr lang="en-US" sz="1700" b="1" dirty="0">
                <a:solidFill>
                  <a:srgbClr val="6B1A2B"/>
                </a:solidFill>
                <a:latin typeface="Georgia" pitchFamily="34" charset="0"/>
                <a:ea typeface="Georgia" pitchFamily="34" charset="-122"/>
                <a:cs typeface="Georgia" pitchFamily="34" charset="-120"/>
              </a:rPr>
              <a:t>Purpose</a:t>
            </a:r>
            <a:endParaRPr lang="en-US" sz="1700" dirty="0"/>
          </a:p>
        </p:txBody>
      </p:sp>
      <p:sp>
        <p:nvSpPr>
          <p:cNvPr id="14" name="Text 9"/>
          <p:cNvSpPr/>
          <p:nvPr/>
        </p:nvSpPr>
        <p:spPr>
          <a:xfrm>
            <a:off x="5577840" y="1856232"/>
            <a:ext cx="2880360" cy="86868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Digitize and centralize ordering: browse, order, upload payment proof, and track status in one platform.</a:t>
            </a:r>
            <a:endParaRPr lang="en-US" sz="1150" dirty="0"/>
          </a:p>
        </p:txBody>
      </p:sp>
      <p:sp>
        <p:nvSpPr>
          <p:cNvPr id="15" name="Shape 10"/>
          <p:cNvSpPr/>
          <p:nvPr/>
        </p:nvSpPr>
        <p:spPr>
          <a:xfrm>
            <a:off x="548640" y="3017520"/>
            <a:ext cx="3886200" cy="1600200"/>
          </a:xfrm>
          <a:prstGeom prst="roundRect">
            <a:avLst>
              <a:gd name="adj" fmla="val 4571"/>
            </a:avLst>
          </a:prstGeom>
          <a:solidFill>
            <a:srgbClr val="FFFFFF"/>
          </a:solidFill>
          <a:ln w="12700">
            <a:solidFill>
              <a:srgbClr val="E8E0D8"/>
            </a:solidFill>
            <a:prstDash val="solid"/>
          </a:ln>
          <a:effectLst>
            <a:outerShdw sx="100000" sy="100000" kx="0" ky="0" algn="bl" rotWithShape="0" blurRad="63500" dist="25400" dir="8100000">
              <a:srgbClr val="000000">
                <a:alpha val="12000"/>
              </a:srgbClr>
            </a:outerShdw>
          </a:effectLst>
        </p:spPr>
      </p:sp>
      <p:sp>
        <p:nvSpPr>
          <p:cNvPr id="16" name="Shape 11"/>
          <p:cNvSpPr/>
          <p:nvPr/>
        </p:nvSpPr>
        <p:spPr>
          <a:xfrm>
            <a:off x="749808" y="3246120"/>
            <a:ext cx="548640" cy="548640"/>
          </a:xfrm>
          <a:prstGeom prst="ellipse">
            <a:avLst/>
          </a:prstGeom>
          <a:solidFill>
            <a:srgbClr val="6B1A2B"/>
          </a:solidFill>
          <a:ln/>
        </p:spPr>
      </p:sp>
      <p:pic>
        <p:nvPicPr>
          <p:cNvPr id="17" name="Image 3" descr="preencoded.png">    </p:cNvPr>
          <p:cNvPicPr>
            <a:picLocks noChangeAspect="1"/>
          </p:cNvPicPr>
          <p:nvPr/>
        </p:nvPicPr>
        <p:blipFill>
          <a:blip r:embed="rId4"/>
          <a:stretch>
            <a:fillRect/>
          </a:stretch>
        </p:blipFill>
        <p:spPr>
          <a:xfrm>
            <a:off x="886968" y="3383280"/>
            <a:ext cx="274320" cy="274320"/>
          </a:xfrm>
          <a:prstGeom prst="rect">
            <a:avLst/>
          </a:prstGeom>
        </p:spPr>
      </p:pic>
      <p:sp>
        <p:nvSpPr>
          <p:cNvPr id="18" name="Text 12"/>
          <p:cNvSpPr/>
          <p:nvPr/>
        </p:nvSpPr>
        <p:spPr>
          <a:xfrm>
            <a:off x="1417320" y="3218688"/>
            <a:ext cx="2834640" cy="411480"/>
          </a:xfrm>
          <a:prstGeom prst="rect">
            <a:avLst/>
          </a:prstGeom>
          <a:noFill/>
          <a:ln/>
        </p:spPr>
        <p:txBody>
          <a:bodyPr wrap="square" lIns="0" tIns="0" rIns="0" bIns="0" rtlCol="0" anchor="ctr"/>
          <a:lstStyle/>
          <a:p>
            <a:pPr indent="0" marL="0">
              <a:buNone/>
            </a:pPr>
            <a:r>
              <a:rPr lang="en-US" sz="1700" b="1" dirty="0">
                <a:solidFill>
                  <a:srgbClr val="6B1A2B"/>
                </a:solidFill>
                <a:latin typeface="Georgia" pitchFamily="34" charset="0"/>
                <a:ea typeface="Georgia" pitchFamily="34" charset="-122"/>
                <a:cs typeface="Georgia" pitchFamily="34" charset="-120"/>
              </a:rPr>
              <a:t>Users</a:t>
            </a:r>
            <a:endParaRPr lang="en-US" sz="1700" dirty="0"/>
          </a:p>
        </p:txBody>
      </p:sp>
      <p:sp>
        <p:nvSpPr>
          <p:cNvPr id="19" name="Text 13"/>
          <p:cNvSpPr/>
          <p:nvPr/>
        </p:nvSpPr>
        <p:spPr>
          <a:xfrm>
            <a:off x="1417320" y="3639312"/>
            <a:ext cx="2880360" cy="86868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Customer (order &amp; track), Admin (manage products, orders, payments, users), Guest (view menu).</a:t>
            </a:r>
            <a:endParaRPr lang="en-US" sz="1150" dirty="0"/>
          </a:p>
        </p:txBody>
      </p:sp>
      <p:sp>
        <p:nvSpPr>
          <p:cNvPr id="20" name="Shape 14"/>
          <p:cNvSpPr/>
          <p:nvPr/>
        </p:nvSpPr>
        <p:spPr>
          <a:xfrm>
            <a:off x="4709160" y="3017520"/>
            <a:ext cx="3886200" cy="1600200"/>
          </a:xfrm>
          <a:prstGeom prst="roundRect">
            <a:avLst>
              <a:gd name="adj" fmla="val 4571"/>
            </a:avLst>
          </a:prstGeom>
          <a:solidFill>
            <a:srgbClr val="F5E8EB"/>
          </a:solidFill>
          <a:ln w="12700">
            <a:solidFill>
              <a:srgbClr val="E8E0D8"/>
            </a:solidFill>
            <a:prstDash val="solid"/>
          </a:ln>
          <a:effectLst>
            <a:outerShdw sx="100000" sy="100000" kx="0" ky="0" algn="bl" rotWithShape="0" blurRad="63500" dist="25400" dir="8100000">
              <a:srgbClr val="000000">
                <a:alpha val="12000"/>
              </a:srgbClr>
            </a:outerShdw>
          </a:effectLst>
        </p:spPr>
      </p:sp>
      <p:sp>
        <p:nvSpPr>
          <p:cNvPr id="21" name="Shape 15"/>
          <p:cNvSpPr/>
          <p:nvPr/>
        </p:nvSpPr>
        <p:spPr>
          <a:xfrm>
            <a:off x="4910328" y="3246120"/>
            <a:ext cx="548640" cy="548640"/>
          </a:xfrm>
          <a:prstGeom prst="ellipse">
            <a:avLst/>
          </a:prstGeom>
          <a:solidFill>
            <a:srgbClr val="6B1A2B"/>
          </a:solidFill>
          <a:ln/>
        </p:spPr>
      </p:sp>
      <p:pic>
        <p:nvPicPr>
          <p:cNvPr id="22" name="Image 4" descr="preencoded.png">    </p:cNvPr>
          <p:cNvPicPr>
            <a:picLocks noChangeAspect="1"/>
          </p:cNvPicPr>
          <p:nvPr/>
        </p:nvPicPr>
        <p:blipFill>
          <a:blip r:embed="rId5"/>
          <a:stretch>
            <a:fillRect/>
          </a:stretch>
        </p:blipFill>
        <p:spPr>
          <a:xfrm>
            <a:off x="5047488" y="3383280"/>
            <a:ext cx="274320" cy="274320"/>
          </a:xfrm>
          <a:prstGeom prst="rect">
            <a:avLst/>
          </a:prstGeom>
        </p:spPr>
      </p:pic>
      <p:sp>
        <p:nvSpPr>
          <p:cNvPr id="23" name="Text 16"/>
          <p:cNvSpPr/>
          <p:nvPr/>
        </p:nvSpPr>
        <p:spPr>
          <a:xfrm>
            <a:off x="5577840" y="3218688"/>
            <a:ext cx="2834640" cy="411480"/>
          </a:xfrm>
          <a:prstGeom prst="rect">
            <a:avLst/>
          </a:prstGeom>
          <a:noFill/>
          <a:ln/>
        </p:spPr>
        <p:txBody>
          <a:bodyPr wrap="square" lIns="0" tIns="0" rIns="0" bIns="0" rtlCol="0" anchor="ctr"/>
          <a:lstStyle/>
          <a:p>
            <a:pPr indent="0" marL="0">
              <a:buNone/>
            </a:pPr>
            <a:r>
              <a:rPr lang="en-US" sz="1700" b="1" dirty="0">
                <a:solidFill>
                  <a:srgbClr val="6B1A2B"/>
                </a:solidFill>
                <a:latin typeface="Georgia" pitchFamily="34" charset="0"/>
                <a:ea typeface="Georgia" pitchFamily="34" charset="-122"/>
                <a:cs typeface="Georgia" pitchFamily="34" charset="-120"/>
              </a:rPr>
              <a:t>Goal</a:t>
            </a:r>
            <a:endParaRPr lang="en-US" sz="1700" dirty="0"/>
          </a:p>
        </p:txBody>
      </p:sp>
      <p:sp>
        <p:nvSpPr>
          <p:cNvPr id="24" name="Text 17"/>
          <p:cNvSpPr/>
          <p:nvPr/>
        </p:nvSpPr>
        <p:spPr>
          <a:xfrm>
            <a:off x="5577840" y="3639312"/>
            <a:ext cx="2880360" cy="86868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A working 3-platform system showing REST integration, layered + MVVM design, and real-time updates.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566928" cy="566928"/>
          </a:xfrm>
          <a:prstGeom prst="ellipse">
            <a:avLst/>
          </a:prstGeom>
          <a:solidFill>
            <a:srgbClr val="6B1A2B"/>
          </a:solidFill>
          <a:ln/>
          <a:effectLst>
            <a:outerShdw sx="100000" sy="100000" kx="0" ky="0" algn="bl" rotWithShape="0" blurRad="63500" dist="25400" dir="81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690372" y="507492"/>
            <a:ext cx="283464" cy="283464"/>
          </a:xfrm>
          <a:prstGeom prst="rect">
            <a:avLst/>
          </a:prstGeom>
        </p:spPr>
      </p:pic>
      <p:sp>
        <p:nvSpPr>
          <p:cNvPr id="4" name="Text 1"/>
          <p:cNvSpPr/>
          <p:nvPr/>
        </p:nvSpPr>
        <p:spPr>
          <a:xfrm>
            <a:off x="1280160" y="365760"/>
            <a:ext cx="7498080" cy="566928"/>
          </a:xfrm>
          <a:prstGeom prst="rect">
            <a:avLst/>
          </a:prstGeom>
          <a:noFill/>
          <a:ln/>
        </p:spPr>
        <p:txBody>
          <a:bodyPr wrap="square" lIns="0" tIns="0" rIns="0" bIns="0" rtlCol="0" anchor="ctr"/>
          <a:lstStyle/>
          <a:p>
            <a:pPr indent="0" marL="0">
              <a:buNone/>
            </a:pPr>
            <a:r>
              <a:rPr lang="en-US" sz="3000" b="1" dirty="0">
                <a:solidFill>
                  <a:srgbClr val="6B1A2B"/>
                </a:solidFill>
                <a:latin typeface="Georgia" pitchFamily="34" charset="0"/>
                <a:ea typeface="Georgia" pitchFamily="34" charset="-122"/>
                <a:cs typeface="Georgia" pitchFamily="34" charset="-120"/>
              </a:rPr>
              <a:t>Main Features (Implemented)</a:t>
            </a:r>
            <a:endParaRPr lang="en-US" sz="3000" dirty="0"/>
          </a:p>
        </p:txBody>
      </p:sp>
      <p:sp>
        <p:nvSpPr>
          <p:cNvPr id="5" name="Shape 2"/>
          <p:cNvSpPr/>
          <p:nvPr/>
        </p:nvSpPr>
        <p:spPr>
          <a:xfrm>
            <a:off x="548640" y="1207008"/>
            <a:ext cx="3886200" cy="1024128"/>
          </a:xfrm>
          <a:prstGeom prst="roundRect">
            <a:avLst>
              <a:gd name="adj" fmla="val 7143"/>
            </a:avLst>
          </a:prstGeom>
          <a:solidFill>
            <a:srgbClr val="F5E8EB"/>
          </a:solidFill>
          <a:ln/>
          <a:effectLst>
            <a:outerShdw sx="100000" sy="100000" kx="0" ky="0" algn="bl" rotWithShape="0" blurRad="63500" dist="25400" dir="8100000">
              <a:srgbClr val="000000">
                <a:alpha val="12000"/>
              </a:srgbClr>
            </a:outerShdw>
          </a:effectLst>
        </p:spPr>
      </p:sp>
      <p:sp>
        <p:nvSpPr>
          <p:cNvPr id="6" name="Shape 3"/>
          <p:cNvSpPr/>
          <p:nvPr/>
        </p:nvSpPr>
        <p:spPr>
          <a:xfrm>
            <a:off x="731520" y="1453896"/>
            <a:ext cx="530352" cy="530352"/>
          </a:xfrm>
          <a:prstGeom prst="ellipse">
            <a:avLst/>
          </a:prstGeom>
          <a:solidFill>
            <a:srgbClr val="FFFFFF"/>
          </a:solidFill>
          <a:ln w="12700">
            <a:solidFill>
              <a:srgbClr val="6B1A2B"/>
            </a:solidFill>
            <a:prstDash val="solid"/>
          </a:ln>
        </p:spPr>
      </p:sp>
      <p:pic>
        <p:nvPicPr>
          <p:cNvPr id="7" name="Image 1" descr="preencoded.png">    </p:cNvPr>
          <p:cNvPicPr>
            <a:picLocks noChangeAspect="1"/>
          </p:cNvPicPr>
          <p:nvPr/>
        </p:nvPicPr>
        <p:blipFill>
          <a:blip r:embed="rId2"/>
          <a:stretch>
            <a:fillRect/>
          </a:stretch>
        </p:blipFill>
        <p:spPr>
          <a:xfrm>
            <a:off x="864108" y="1577340"/>
            <a:ext cx="265176" cy="265176"/>
          </a:xfrm>
          <a:prstGeom prst="rect">
            <a:avLst/>
          </a:prstGeom>
        </p:spPr>
      </p:pic>
      <p:sp>
        <p:nvSpPr>
          <p:cNvPr id="8" name="Text 4"/>
          <p:cNvSpPr/>
          <p:nvPr/>
        </p:nvSpPr>
        <p:spPr>
          <a:xfrm>
            <a:off x="1389888" y="1353312"/>
            <a:ext cx="2926080" cy="365760"/>
          </a:xfrm>
          <a:prstGeom prst="rect">
            <a:avLst/>
          </a:prstGeom>
          <a:noFill/>
          <a:ln/>
        </p:spPr>
        <p:txBody>
          <a:bodyPr wrap="square" lIns="0" tIns="0" rIns="0" bIns="0" rtlCol="0" anchor="ctr"/>
          <a:lstStyle/>
          <a:p>
            <a:pPr indent="0" marL="0">
              <a:buNone/>
            </a:pPr>
            <a:r>
              <a:rPr lang="en-US" sz="1350" b="1" dirty="0">
                <a:solidFill>
                  <a:srgbClr val="6B1A2B"/>
                </a:solidFill>
                <a:latin typeface="Georgia" pitchFamily="34" charset="0"/>
                <a:ea typeface="Georgia" pitchFamily="34" charset="-122"/>
                <a:cs typeface="Georgia" pitchFamily="34" charset="-120"/>
              </a:rPr>
              <a:t>Auth &amp; Role-Based Access</a:t>
            </a:r>
            <a:endParaRPr lang="en-US" sz="1350" dirty="0"/>
          </a:p>
        </p:txBody>
      </p:sp>
      <p:sp>
        <p:nvSpPr>
          <p:cNvPr id="9" name="Text 5"/>
          <p:cNvSpPr/>
          <p:nvPr/>
        </p:nvSpPr>
        <p:spPr>
          <a:xfrm>
            <a:off x="1389888" y="1709928"/>
            <a:ext cx="2971800" cy="457200"/>
          </a:xfrm>
          <a:prstGeom prst="rect">
            <a:avLst/>
          </a:prstGeom>
          <a:noFill/>
          <a:ln/>
        </p:spPr>
        <p:txBody>
          <a:bodyPr wrap="square" lIns="0" tIns="0" rIns="0" bIns="0" rtlCol="0" anchor="ctr"/>
          <a:lstStyle/>
          <a:p>
            <a:pPr indent="0" marL="0">
              <a:buNone/>
            </a:pPr>
            <a:r>
              <a:rPr lang="en-US" sz="1080" dirty="0">
                <a:solidFill>
                  <a:srgbClr val="1A1A2E"/>
                </a:solidFill>
                <a:latin typeface="Calibri" pitchFamily="34" charset="0"/>
                <a:ea typeface="Calibri" pitchFamily="34" charset="-122"/>
                <a:cs typeface="Calibri" pitchFamily="34" charset="-120"/>
              </a:rPr>
              <a:t>JWT login/register; admin vs customer routes.</a:t>
            </a:r>
            <a:endParaRPr lang="en-US" sz="1080" dirty="0"/>
          </a:p>
        </p:txBody>
      </p:sp>
      <p:sp>
        <p:nvSpPr>
          <p:cNvPr id="10" name="Shape 6"/>
          <p:cNvSpPr/>
          <p:nvPr/>
        </p:nvSpPr>
        <p:spPr>
          <a:xfrm>
            <a:off x="4709160" y="1207008"/>
            <a:ext cx="3886200" cy="1024128"/>
          </a:xfrm>
          <a:prstGeom prst="roundRect">
            <a:avLst>
              <a:gd name="adj" fmla="val 7143"/>
            </a:avLst>
          </a:prstGeom>
          <a:solidFill>
            <a:srgbClr val="F5E8EB"/>
          </a:solidFill>
          <a:ln/>
          <a:effectLst>
            <a:outerShdw sx="100000" sy="100000" kx="0" ky="0" algn="bl" rotWithShape="0" blurRad="63500" dist="25400" dir="8100000">
              <a:srgbClr val="000000">
                <a:alpha val="12000"/>
              </a:srgbClr>
            </a:outerShdw>
          </a:effectLst>
        </p:spPr>
      </p:sp>
      <p:sp>
        <p:nvSpPr>
          <p:cNvPr id="11" name="Shape 7"/>
          <p:cNvSpPr/>
          <p:nvPr/>
        </p:nvSpPr>
        <p:spPr>
          <a:xfrm>
            <a:off x="4892040" y="1453896"/>
            <a:ext cx="530352" cy="530352"/>
          </a:xfrm>
          <a:prstGeom prst="ellipse">
            <a:avLst/>
          </a:prstGeom>
          <a:solidFill>
            <a:srgbClr val="FFFFFF"/>
          </a:solidFill>
          <a:ln w="12700">
            <a:solidFill>
              <a:srgbClr val="6B1A2B"/>
            </a:solidFill>
            <a:prstDash val="solid"/>
          </a:ln>
        </p:spPr>
      </p:sp>
      <p:pic>
        <p:nvPicPr>
          <p:cNvPr id="12" name="Image 2" descr="preencoded.png">    </p:cNvPr>
          <p:cNvPicPr>
            <a:picLocks noChangeAspect="1"/>
          </p:cNvPicPr>
          <p:nvPr/>
        </p:nvPicPr>
        <p:blipFill>
          <a:blip r:embed="rId3"/>
          <a:stretch>
            <a:fillRect/>
          </a:stretch>
        </p:blipFill>
        <p:spPr>
          <a:xfrm>
            <a:off x="5024628" y="1577340"/>
            <a:ext cx="265176" cy="265176"/>
          </a:xfrm>
          <a:prstGeom prst="rect">
            <a:avLst/>
          </a:prstGeom>
        </p:spPr>
      </p:pic>
      <p:sp>
        <p:nvSpPr>
          <p:cNvPr id="13" name="Text 8"/>
          <p:cNvSpPr/>
          <p:nvPr/>
        </p:nvSpPr>
        <p:spPr>
          <a:xfrm>
            <a:off x="5550408" y="1353312"/>
            <a:ext cx="2926080" cy="365760"/>
          </a:xfrm>
          <a:prstGeom prst="rect">
            <a:avLst/>
          </a:prstGeom>
          <a:noFill/>
          <a:ln/>
        </p:spPr>
        <p:txBody>
          <a:bodyPr wrap="square" lIns="0" tIns="0" rIns="0" bIns="0" rtlCol="0" anchor="ctr"/>
          <a:lstStyle/>
          <a:p>
            <a:pPr indent="0" marL="0">
              <a:buNone/>
            </a:pPr>
            <a:r>
              <a:rPr lang="en-US" sz="1350" b="1" dirty="0">
                <a:solidFill>
                  <a:srgbClr val="6B1A2B"/>
                </a:solidFill>
                <a:latin typeface="Georgia" pitchFamily="34" charset="0"/>
                <a:ea typeface="Georgia" pitchFamily="34" charset="-122"/>
                <a:cs typeface="Georgia" pitchFamily="34" charset="-120"/>
              </a:rPr>
              <a:t>Browse, Search &amp; Cart</a:t>
            </a:r>
            <a:endParaRPr lang="en-US" sz="1350" dirty="0"/>
          </a:p>
        </p:txBody>
      </p:sp>
      <p:sp>
        <p:nvSpPr>
          <p:cNvPr id="14" name="Text 9"/>
          <p:cNvSpPr/>
          <p:nvPr/>
        </p:nvSpPr>
        <p:spPr>
          <a:xfrm>
            <a:off x="5550408" y="1709928"/>
            <a:ext cx="2971800" cy="457200"/>
          </a:xfrm>
          <a:prstGeom prst="rect">
            <a:avLst/>
          </a:prstGeom>
          <a:noFill/>
          <a:ln/>
        </p:spPr>
        <p:txBody>
          <a:bodyPr wrap="square" lIns="0" tIns="0" rIns="0" bIns="0" rtlCol="0" anchor="ctr"/>
          <a:lstStyle/>
          <a:p>
            <a:pPr indent="0" marL="0">
              <a:buNone/>
            </a:pPr>
            <a:r>
              <a:rPr lang="en-US" sz="1080" dirty="0">
                <a:solidFill>
                  <a:srgbClr val="1A1A2E"/>
                </a:solidFill>
                <a:latin typeface="Calibri" pitchFamily="34" charset="0"/>
                <a:ea typeface="Calibri" pitchFamily="34" charset="-122"/>
                <a:cs typeface="Calibri" pitchFamily="34" charset="-120"/>
              </a:rPr>
              <a:t>Paginated menu, category filter, server-side cart.</a:t>
            </a:r>
            <a:endParaRPr lang="en-US" sz="1080" dirty="0"/>
          </a:p>
        </p:txBody>
      </p:sp>
      <p:sp>
        <p:nvSpPr>
          <p:cNvPr id="15" name="Shape 10"/>
          <p:cNvSpPr/>
          <p:nvPr/>
        </p:nvSpPr>
        <p:spPr>
          <a:xfrm>
            <a:off x="548640" y="2368296"/>
            <a:ext cx="3886200" cy="1024128"/>
          </a:xfrm>
          <a:prstGeom prst="roundRect">
            <a:avLst>
              <a:gd name="adj" fmla="val 7143"/>
            </a:avLst>
          </a:prstGeom>
          <a:solidFill>
            <a:srgbClr val="F5E8EB"/>
          </a:solidFill>
          <a:ln/>
          <a:effectLst>
            <a:outerShdw sx="100000" sy="100000" kx="0" ky="0" algn="bl" rotWithShape="0" blurRad="63500" dist="25400" dir="8100000">
              <a:srgbClr val="000000">
                <a:alpha val="12000"/>
              </a:srgbClr>
            </a:outerShdw>
          </a:effectLst>
        </p:spPr>
      </p:sp>
      <p:sp>
        <p:nvSpPr>
          <p:cNvPr id="16" name="Shape 11"/>
          <p:cNvSpPr/>
          <p:nvPr/>
        </p:nvSpPr>
        <p:spPr>
          <a:xfrm>
            <a:off x="731520" y="2615184"/>
            <a:ext cx="530352" cy="530352"/>
          </a:xfrm>
          <a:prstGeom prst="ellipse">
            <a:avLst/>
          </a:prstGeom>
          <a:solidFill>
            <a:srgbClr val="FFFFFF"/>
          </a:solidFill>
          <a:ln w="12700">
            <a:solidFill>
              <a:srgbClr val="6B1A2B"/>
            </a:solidFill>
            <a:prstDash val="solid"/>
          </a:ln>
        </p:spPr>
      </p:sp>
      <p:pic>
        <p:nvPicPr>
          <p:cNvPr id="17" name="Image 3" descr="preencoded.png">    </p:cNvPr>
          <p:cNvPicPr>
            <a:picLocks noChangeAspect="1"/>
          </p:cNvPicPr>
          <p:nvPr/>
        </p:nvPicPr>
        <p:blipFill>
          <a:blip r:embed="rId4"/>
          <a:stretch>
            <a:fillRect/>
          </a:stretch>
        </p:blipFill>
        <p:spPr>
          <a:xfrm>
            <a:off x="864108" y="2738628"/>
            <a:ext cx="265176" cy="265176"/>
          </a:xfrm>
          <a:prstGeom prst="rect">
            <a:avLst/>
          </a:prstGeom>
        </p:spPr>
      </p:pic>
      <p:sp>
        <p:nvSpPr>
          <p:cNvPr id="18" name="Text 12"/>
          <p:cNvSpPr/>
          <p:nvPr/>
        </p:nvSpPr>
        <p:spPr>
          <a:xfrm>
            <a:off x="1389888" y="2514600"/>
            <a:ext cx="2926080" cy="365760"/>
          </a:xfrm>
          <a:prstGeom prst="rect">
            <a:avLst/>
          </a:prstGeom>
          <a:noFill/>
          <a:ln/>
        </p:spPr>
        <p:txBody>
          <a:bodyPr wrap="square" lIns="0" tIns="0" rIns="0" bIns="0" rtlCol="0" anchor="ctr"/>
          <a:lstStyle/>
          <a:p>
            <a:pPr indent="0" marL="0">
              <a:buNone/>
            </a:pPr>
            <a:r>
              <a:rPr lang="en-US" sz="1350" b="1" dirty="0">
                <a:solidFill>
                  <a:srgbClr val="6B1A2B"/>
                </a:solidFill>
                <a:latin typeface="Georgia" pitchFamily="34" charset="0"/>
                <a:ea typeface="Georgia" pitchFamily="34" charset="-122"/>
                <a:cs typeface="Georgia" pitchFamily="34" charset="-120"/>
              </a:rPr>
              <a:t>Checkout &amp; Order Tracking</a:t>
            </a:r>
            <a:endParaRPr lang="en-US" sz="1350" dirty="0"/>
          </a:p>
        </p:txBody>
      </p:sp>
      <p:sp>
        <p:nvSpPr>
          <p:cNvPr id="19" name="Text 13"/>
          <p:cNvSpPr/>
          <p:nvPr/>
        </p:nvSpPr>
        <p:spPr>
          <a:xfrm>
            <a:off x="1389888" y="2871216"/>
            <a:ext cx="2971800" cy="457200"/>
          </a:xfrm>
          <a:prstGeom prst="rect">
            <a:avLst/>
          </a:prstGeom>
          <a:noFill/>
          <a:ln/>
        </p:spPr>
        <p:txBody>
          <a:bodyPr wrap="square" lIns="0" tIns="0" rIns="0" bIns="0" rtlCol="0" anchor="ctr"/>
          <a:lstStyle/>
          <a:p>
            <a:pPr indent="0" marL="0">
              <a:buNone/>
            </a:pPr>
            <a:r>
              <a:rPr lang="en-US" sz="1080" dirty="0">
                <a:solidFill>
                  <a:srgbClr val="1A1A2E"/>
                </a:solidFill>
                <a:latin typeface="Calibri" pitchFamily="34" charset="0"/>
                <a:ea typeface="Calibri" pitchFamily="34" charset="-122"/>
                <a:cs typeface="Calibri" pitchFamily="34" charset="-120"/>
              </a:rPr>
              <a:t>Delivery/pickup, status state-machine, cancel.</a:t>
            </a:r>
            <a:endParaRPr lang="en-US" sz="1080" dirty="0"/>
          </a:p>
        </p:txBody>
      </p:sp>
      <p:sp>
        <p:nvSpPr>
          <p:cNvPr id="20" name="Shape 14"/>
          <p:cNvSpPr/>
          <p:nvPr/>
        </p:nvSpPr>
        <p:spPr>
          <a:xfrm>
            <a:off x="4709160" y="2368296"/>
            <a:ext cx="3886200" cy="1024128"/>
          </a:xfrm>
          <a:prstGeom prst="roundRect">
            <a:avLst>
              <a:gd name="adj" fmla="val 7143"/>
            </a:avLst>
          </a:prstGeom>
          <a:solidFill>
            <a:srgbClr val="F5E8EB"/>
          </a:solidFill>
          <a:ln/>
          <a:effectLst>
            <a:outerShdw sx="100000" sy="100000" kx="0" ky="0" algn="bl" rotWithShape="0" blurRad="63500" dist="25400" dir="8100000">
              <a:srgbClr val="000000">
                <a:alpha val="12000"/>
              </a:srgbClr>
            </a:outerShdw>
          </a:effectLst>
        </p:spPr>
      </p:sp>
      <p:sp>
        <p:nvSpPr>
          <p:cNvPr id="21" name="Shape 15"/>
          <p:cNvSpPr/>
          <p:nvPr/>
        </p:nvSpPr>
        <p:spPr>
          <a:xfrm>
            <a:off x="4892040" y="2615184"/>
            <a:ext cx="530352" cy="530352"/>
          </a:xfrm>
          <a:prstGeom prst="ellipse">
            <a:avLst/>
          </a:prstGeom>
          <a:solidFill>
            <a:srgbClr val="FFFFFF"/>
          </a:solidFill>
          <a:ln w="12700">
            <a:solidFill>
              <a:srgbClr val="6B1A2B"/>
            </a:solidFill>
            <a:prstDash val="solid"/>
          </a:ln>
        </p:spPr>
      </p:sp>
      <p:pic>
        <p:nvPicPr>
          <p:cNvPr id="22" name="Image 4" descr="preencoded.png">    </p:cNvPr>
          <p:cNvPicPr>
            <a:picLocks noChangeAspect="1"/>
          </p:cNvPicPr>
          <p:nvPr/>
        </p:nvPicPr>
        <p:blipFill>
          <a:blip r:embed="rId5"/>
          <a:stretch>
            <a:fillRect/>
          </a:stretch>
        </p:blipFill>
        <p:spPr>
          <a:xfrm>
            <a:off x="5024628" y="2738628"/>
            <a:ext cx="265176" cy="265176"/>
          </a:xfrm>
          <a:prstGeom prst="rect">
            <a:avLst/>
          </a:prstGeom>
        </p:spPr>
      </p:pic>
      <p:sp>
        <p:nvSpPr>
          <p:cNvPr id="23" name="Text 16"/>
          <p:cNvSpPr/>
          <p:nvPr/>
        </p:nvSpPr>
        <p:spPr>
          <a:xfrm>
            <a:off x="5550408" y="2514600"/>
            <a:ext cx="2926080" cy="365760"/>
          </a:xfrm>
          <a:prstGeom prst="rect">
            <a:avLst/>
          </a:prstGeom>
          <a:noFill/>
          <a:ln/>
        </p:spPr>
        <p:txBody>
          <a:bodyPr wrap="square" lIns="0" tIns="0" rIns="0" bIns="0" rtlCol="0" anchor="ctr"/>
          <a:lstStyle/>
          <a:p>
            <a:pPr indent="0" marL="0">
              <a:buNone/>
            </a:pPr>
            <a:r>
              <a:rPr lang="en-US" sz="1350" b="1" dirty="0">
                <a:solidFill>
                  <a:srgbClr val="6B1A2B"/>
                </a:solidFill>
                <a:latin typeface="Georgia" pitchFamily="34" charset="0"/>
                <a:ea typeface="Georgia" pitchFamily="34" charset="-122"/>
                <a:cs typeface="Georgia" pitchFamily="34" charset="-120"/>
              </a:rPr>
              <a:t>Payment Proof Upload</a:t>
            </a:r>
            <a:endParaRPr lang="en-US" sz="1350" dirty="0"/>
          </a:p>
        </p:txBody>
      </p:sp>
      <p:sp>
        <p:nvSpPr>
          <p:cNvPr id="24" name="Text 17"/>
          <p:cNvSpPr/>
          <p:nvPr/>
        </p:nvSpPr>
        <p:spPr>
          <a:xfrm>
            <a:off x="5550408" y="2871216"/>
            <a:ext cx="2971800" cy="457200"/>
          </a:xfrm>
          <a:prstGeom prst="rect">
            <a:avLst/>
          </a:prstGeom>
          <a:noFill/>
          <a:ln/>
        </p:spPr>
        <p:txBody>
          <a:bodyPr wrap="square" lIns="0" tIns="0" rIns="0" bIns="0" rtlCol="0" anchor="ctr"/>
          <a:lstStyle/>
          <a:p>
            <a:pPr indent="0" marL="0">
              <a:buNone/>
            </a:pPr>
            <a:r>
              <a:rPr lang="en-US" sz="1080" dirty="0">
                <a:solidFill>
                  <a:srgbClr val="1A1A2E"/>
                </a:solidFill>
                <a:latin typeface="Calibri" pitchFamily="34" charset="0"/>
                <a:ea typeface="Calibri" pitchFamily="34" charset="-122"/>
                <a:cs typeface="Calibri" pitchFamily="34" charset="-120"/>
              </a:rPr>
              <a:t>Manual GCash/Maya proof; admin confirms.</a:t>
            </a:r>
            <a:endParaRPr lang="en-US" sz="1080" dirty="0"/>
          </a:p>
        </p:txBody>
      </p:sp>
      <p:sp>
        <p:nvSpPr>
          <p:cNvPr id="25" name="Shape 18"/>
          <p:cNvSpPr/>
          <p:nvPr/>
        </p:nvSpPr>
        <p:spPr>
          <a:xfrm>
            <a:off x="548640" y="3529584"/>
            <a:ext cx="3886200" cy="1024128"/>
          </a:xfrm>
          <a:prstGeom prst="roundRect">
            <a:avLst>
              <a:gd name="adj" fmla="val 7143"/>
            </a:avLst>
          </a:prstGeom>
          <a:solidFill>
            <a:srgbClr val="F5E8EB"/>
          </a:solidFill>
          <a:ln/>
          <a:effectLst>
            <a:outerShdw sx="100000" sy="100000" kx="0" ky="0" algn="bl" rotWithShape="0" blurRad="63500" dist="25400" dir="8100000">
              <a:srgbClr val="000000">
                <a:alpha val="12000"/>
              </a:srgbClr>
            </a:outerShdw>
          </a:effectLst>
        </p:spPr>
      </p:sp>
      <p:sp>
        <p:nvSpPr>
          <p:cNvPr id="26" name="Shape 19"/>
          <p:cNvSpPr/>
          <p:nvPr/>
        </p:nvSpPr>
        <p:spPr>
          <a:xfrm>
            <a:off x="731520" y="3776472"/>
            <a:ext cx="530352" cy="530352"/>
          </a:xfrm>
          <a:prstGeom prst="ellipse">
            <a:avLst/>
          </a:prstGeom>
          <a:solidFill>
            <a:srgbClr val="FFFFFF"/>
          </a:solidFill>
          <a:ln w="12700">
            <a:solidFill>
              <a:srgbClr val="6B1A2B"/>
            </a:solidFill>
            <a:prstDash val="solid"/>
          </a:ln>
        </p:spPr>
      </p:sp>
      <p:pic>
        <p:nvPicPr>
          <p:cNvPr id="27" name="Image 5" descr="preencoded.png">    </p:cNvPr>
          <p:cNvPicPr>
            <a:picLocks noChangeAspect="1"/>
          </p:cNvPicPr>
          <p:nvPr/>
        </p:nvPicPr>
        <p:blipFill>
          <a:blip r:embed="rId6"/>
          <a:stretch>
            <a:fillRect/>
          </a:stretch>
        </p:blipFill>
        <p:spPr>
          <a:xfrm>
            <a:off x="864108" y="3899916"/>
            <a:ext cx="265176" cy="265176"/>
          </a:xfrm>
          <a:prstGeom prst="rect">
            <a:avLst/>
          </a:prstGeom>
        </p:spPr>
      </p:pic>
      <p:sp>
        <p:nvSpPr>
          <p:cNvPr id="28" name="Text 20"/>
          <p:cNvSpPr/>
          <p:nvPr/>
        </p:nvSpPr>
        <p:spPr>
          <a:xfrm>
            <a:off x="1389888" y="3675888"/>
            <a:ext cx="2926080" cy="365760"/>
          </a:xfrm>
          <a:prstGeom prst="rect">
            <a:avLst/>
          </a:prstGeom>
          <a:noFill/>
          <a:ln/>
        </p:spPr>
        <p:txBody>
          <a:bodyPr wrap="square" lIns="0" tIns="0" rIns="0" bIns="0" rtlCol="0" anchor="ctr"/>
          <a:lstStyle/>
          <a:p>
            <a:pPr indent="0" marL="0">
              <a:buNone/>
            </a:pPr>
            <a:r>
              <a:rPr lang="en-US" sz="1350" b="1" dirty="0">
                <a:solidFill>
                  <a:srgbClr val="6B1A2B"/>
                </a:solidFill>
                <a:latin typeface="Georgia" pitchFamily="34" charset="0"/>
                <a:ea typeface="Georgia" pitchFamily="34" charset="-122"/>
                <a:cs typeface="Georgia" pitchFamily="34" charset="-120"/>
              </a:rPr>
              <a:t>Real-Time Notifications</a:t>
            </a:r>
            <a:endParaRPr lang="en-US" sz="1350" dirty="0"/>
          </a:p>
        </p:txBody>
      </p:sp>
      <p:sp>
        <p:nvSpPr>
          <p:cNvPr id="29" name="Text 21"/>
          <p:cNvSpPr/>
          <p:nvPr/>
        </p:nvSpPr>
        <p:spPr>
          <a:xfrm>
            <a:off x="1389888" y="4032504"/>
            <a:ext cx="2971800" cy="457200"/>
          </a:xfrm>
          <a:prstGeom prst="rect">
            <a:avLst/>
          </a:prstGeom>
          <a:noFill/>
          <a:ln/>
        </p:spPr>
        <p:txBody>
          <a:bodyPr wrap="square" lIns="0" tIns="0" rIns="0" bIns="0" rtlCol="0" anchor="ctr"/>
          <a:lstStyle/>
          <a:p>
            <a:pPr indent="0" marL="0">
              <a:buNone/>
            </a:pPr>
            <a:r>
              <a:rPr lang="en-US" sz="1080" dirty="0">
                <a:solidFill>
                  <a:srgbClr val="1A1A2E"/>
                </a:solidFill>
                <a:latin typeface="Calibri" pitchFamily="34" charset="0"/>
                <a:ea typeface="Calibri" pitchFamily="34" charset="-122"/>
                <a:cs typeface="Calibri" pitchFamily="34" charset="-120"/>
              </a:rPr>
              <a:t>Observer + WebSocket push to web client.</a:t>
            </a:r>
            <a:endParaRPr lang="en-US" sz="1080" dirty="0"/>
          </a:p>
        </p:txBody>
      </p:sp>
      <p:sp>
        <p:nvSpPr>
          <p:cNvPr id="30" name="Shape 22"/>
          <p:cNvSpPr/>
          <p:nvPr/>
        </p:nvSpPr>
        <p:spPr>
          <a:xfrm>
            <a:off x="4709160" y="3529584"/>
            <a:ext cx="3886200" cy="1024128"/>
          </a:xfrm>
          <a:prstGeom prst="roundRect">
            <a:avLst>
              <a:gd name="adj" fmla="val 7143"/>
            </a:avLst>
          </a:prstGeom>
          <a:solidFill>
            <a:srgbClr val="F5E8EB"/>
          </a:solidFill>
          <a:ln/>
          <a:effectLst>
            <a:outerShdw sx="100000" sy="100000" kx="0" ky="0" algn="bl" rotWithShape="0" blurRad="63500" dist="25400" dir="8100000">
              <a:srgbClr val="000000">
                <a:alpha val="12000"/>
              </a:srgbClr>
            </a:outerShdw>
          </a:effectLst>
        </p:spPr>
      </p:sp>
      <p:sp>
        <p:nvSpPr>
          <p:cNvPr id="31" name="Shape 23"/>
          <p:cNvSpPr/>
          <p:nvPr/>
        </p:nvSpPr>
        <p:spPr>
          <a:xfrm>
            <a:off x="4892040" y="3776472"/>
            <a:ext cx="530352" cy="530352"/>
          </a:xfrm>
          <a:prstGeom prst="ellipse">
            <a:avLst/>
          </a:prstGeom>
          <a:solidFill>
            <a:srgbClr val="FFFFFF"/>
          </a:solidFill>
          <a:ln w="12700">
            <a:solidFill>
              <a:srgbClr val="6B1A2B"/>
            </a:solidFill>
            <a:prstDash val="solid"/>
          </a:ln>
        </p:spPr>
      </p:sp>
      <p:pic>
        <p:nvPicPr>
          <p:cNvPr id="32" name="Image 6" descr="preencoded.png">    </p:cNvPr>
          <p:cNvPicPr>
            <a:picLocks noChangeAspect="1"/>
          </p:cNvPicPr>
          <p:nvPr/>
        </p:nvPicPr>
        <p:blipFill>
          <a:blip r:embed="rId7"/>
          <a:stretch>
            <a:fillRect/>
          </a:stretch>
        </p:blipFill>
        <p:spPr>
          <a:xfrm>
            <a:off x="5024628" y="3899916"/>
            <a:ext cx="265176" cy="265176"/>
          </a:xfrm>
          <a:prstGeom prst="rect">
            <a:avLst/>
          </a:prstGeom>
        </p:spPr>
      </p:pic>
      <p:sp>
        <p:nvSpPr>
          <p:cNvPr id="33" name="Text 24"/>
          <p:cNvSpPr/>
          <p:nvPr/>
        </p:nvSpPr>
        <p:spPr>
          <a:xfrm>
            <a:off x="5550408" y="3675888"/>
            <a:ext cx="2926080" cy="365760"/>
          </a:xfrm>
          <a:prstGeom prst="rect">
            <a:avLst/>
          </a:prstGeom>
          <a:noFill/>
          <a:ln/>
        </p:spPr>
        <p:txBody>
          <a:bodyPr wrap="square" lIns="0" tIns="0" rIns="0" bIns="0" rtlCol="0" anchor="ctr"/>
          <a:lstStyle/>
          <a:p>
            <a:pPr indent="0" marL="0">
              <a:buNone/>
            </a:pPr>
            <a:r>
              <a:rPr lang="en-US" sz="1350" b="1" dirty="0">
                <a:solidFill>
                  <a:srgbClr val="6B1A2B"/>
                </a:solidFill>
                <a:latin typeface="Georgia" pitchFamily="34" charset="0"/>
                <a:ea typeface="Georgia" pitchFamily="34" charset="-122"/>
                <a:cs typeface="Georgia" pitchFamily="34" charset="-120"/>
              </a:rPr>
              <a:t>Admin Management</a:t>
            </a:r>
            <a:endParaRPr lang="en-US" sz="1350" dirty="0"/>
          </a:p>
        </p:txBody>
      </p:sp>
      <p:sp>
        <p:nvSpPr>
          <p:cNvPr id="34" name="Text 25"/>
          <p:cNvSpPr/>
          <p:nvPr/>
        </p:nvSpPr>
        <p:spPr>
          <a:xfrm>
            <a:off x="5550408" y="4032504"/>
            <a:ext cx="2971800" cy="457200"/>
          </a:xfrm>
          <a:prstGeom prst="rect">
            <a:avLst/>
          </a:prstGeom>
          <a:noFill/>
          <a:ln/>
        </p:spPr>
        <p:txBody>
          <a:bodyPr wrap="square" lIns="0" tIns="0" rIns="0" bIns="0" rtlCol="0" anchor="ctr"/>
          <a:lstStyle/>
          <a:p>
            <a:pPr indent="0" marL="0">
              <a:buNone/>
            </a:pPr>
            <a:r>
              <a:rPr lang="en-US" sz="1080" dirty="0">
                <a:solidFill>
                  <a:srgbClr val="1A1A2E"/>
                </a:solidFill>
                <a:latin typeface="Calibri" pitchFamily="34" charset="0"/>
                <a:ea typeface="Calibri" pitchFamily="34" charset="-122"/>
                <a:cs typeface="Calibri" pitchFamily="34" charset="-120"/>
              </a:rPr>
              <a:t>Products CRUD, orders, delivery fee, users.</a:t>
            </a:r>
            <a:endParaRPr lang="en-US" sz="10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566928" cy="566928"/>
          </a:xfrm>
          <a:prstGeom prst="ellipse">
            <a:avLst/>
          </a:prstGeom>
          <a:solidFill>
            <a:srgbClr val="6B1A2B"/>
          </a:solidFill>
          <a:ln/>
          <a:effectLst>
            <a:outerShdw sx="100000" sy="100000" kx="0" ky="0" algn="bl" rotWithShape="0" blurRad="63500" dist="25400" dir="81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690372" y="507492"/>
            <a:ext cx="283464" cy="283464"/>
          </a:xfrm>
          <a:prstGeom prst="rect">
            <a:avLst/>
          </a:prstGeom>
        </p:spPr>
      </p:pic>
      <p:sp>
        <p:nvSpPr>
          <p:cNvPr id="4" name="Text 1"/>
          <p:cNvSpPr/>
          <p:nvPr/>
        </p:nvSpPr>
        <p:spPr>
          <a:xfrm>
            <a:off x="1280160" y="365760"/>
            <a:ext cx="7498080" cy="566928"/>
          </a:xfrm>
          <a:prstGeom prst="rect">
            <a:avLst/>
          </a:prstGeom>
          <a:noFill/>
          <a:ln/>
        </p:spPr>
        <p:txBody>
          <a:bodyPr wrap="square" lIns="0" tIns="0" rIns="0" bIns="0" rtlCol="0" anchor="ctr"/>
          <a:lstStyle/>
          <a:p>
            <a:pPr indent="0" marL="0">
              <a:buNone/>
            </a:pPr>
            <a:r>
              <a:rPr lang="en-US" sz="3000" b="1" dirty="0">
                <a:solidFill>
                  <a:srgbClr val="6B1A2B"/>
                </a:solidFill>
                <a:latin typeface="Georgia" pitchFamily="34" charset="0"/>
                <a:ea typeface="Georgia" pitchFamily="34" charset="-122"/>
                <a:cs typeface="Georgia" pitchFamily="34" charset="-120"/>
              </a:rPr>
              <a:t>System Architecture</a:t>
            </a:r>
            <a:endParaRPr lang="en-US" sz="3000" dirty="0"/>
          </a:p>
        </p:txBody>
      </p:sp>
      <p:sp>
        <p:nvSpPr>
          <p:cNvPr id="5" name="Shape 2"/>
          <p:cNvSpPr/>
          <p:nvPr/>
        </p:nvSpPr>
        <p:spPr>
          <a:xfrm>
            <a:off x="548640" y="1371600"/>
            <a:ext cx="2148840" cy="868680"/>
          </a:xfrm>
          <a:prstGeom prst="roundRect">
            <a:avLst>
              <a:gd name="adj" fmla="val 8421"/>
            </a:avLst>
          </a:prstGeom>
          <a:solidFill>
            <a:srgbClr val="6B1A2B"/>
          </a:solidFill>
          <a:ln/>
          <a:effectLst>
            <a:outerShdw sx="100000" sy="100000" kx="0" ky="0" algn="bl" rotWithShape="0" blurRad="63500" dist="25400" dir="8100000">
              <a:srgbClr val="000000">
                <a:alpha val="12000"/>
              </a:srgbClr>
            </a:outerShdw>
          </a:effectLst>
        </p:spPr>
      </p:sp>
      <p:pic>
        <p:nvPicPr>
          <p:cNvPr id="6" name="Image 1" descr="preencoded.png">    </p:cNvPr>
          <p:cNvPicPr>
            <a:picLocks noChangeAspect="1"/>
          </p:cNvPicPr>
          <p:nvPr/>
        </p:nvPicPr>
        <p:blipFill>
          <a:blip r:embed="rId2"/>
          <a:stretch>
            <a:fillRect/>
          </a:stretch>
        </p:blipFill>
        <p:spPr>
          <a:xfrm>
            <a:off x="713232" y="1645920"/>
            <a:ext cx="329184" cy="329184"/>
          </a:xfrm>
          <a:prstGeom prst="rect">
            <a:avLst/>
          </a:prstGeom>
        </p:spPr>
      </p:pic>
      <p:sp>
        <p:nvSpPr>
          <p:cNvPr id="7" name="Text 3"/>
          <p:cNvSpPr/>
          <p:nvPr/>
        </p:nvSpPr>
        <p:spPr>
          <a:xfrm>
            <a:off x="1143000" y="1371600"/>
            <a:ext cx="1508760"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Web
</a:t>
            </a:r>
            <a:endParaRPr lang="en-US" sz="1300" dirty="0"/>
          </a:p>
          <a:p>
            <a:pPr indent="0" marL="0">
              <a:buNone/>
            </a:pPr>
            <a:r>
              <a:rPr lang="en-US" sz="950" dirty="0">
                <a:solidFill>
                  <a:srgbClr val="F5E8EB"/>
                </a:solidFill>
                <a:latin typeface="Calibri" pitchFamily="34" charset="0"/>
                <a:ea typeface="Calibri" pitchFamily="34" charset="-122"/>
                <a:cs typeface="Calibri" pitchFamily="34" charset="-120"/>
              </a:rPr>
              <a:t>React + Vite</a:t>
            </a:r>
            <a:endParaRPr lang="en-US" sz="1300" dirty="0"/>
          </a:p>
        </p:txBody>
      </p:sp>
      <p:sp>
        <p:nvSpPr>
          <p:cNvPr id="8" name="Shape 4"/>
          <p:cNvSpPr/>
          <p:nvPr/>
        </p:nvSpPr>
        <p:spPr>
          <a:xfrm>
            <a:off x="548640" y="2468880"/>
            <a:ext cx="2148840" cy="868680"/>
          </a:xfrm>
          <a:prstGeom prst="roundRect">
            <a:avLst>
              <a:gd name="adj" fmla="val 8421"/>
            </a:avLst>
          </a:prstGeom>
          <a:solidFill>
            <a:srgbClr val="6B1A2B"/>
          </a:solidFill>
          <a:ln/>
          <a:effectLst>
            <a:outerShdw sx="100000" sy="100000" kx="0" ky="0" algn="bl" rotWithShape="0" blurRad="63500" dist="25400" dir="8100000">
              <a:srgbClr val="000000">
                <a:alpha val="12000"/>
              </a:srgbClr>
            </a:outerShdw>
          </a:effectLst>
        </p:spPr>
      </p:sp>
      <p:pic>
        <p:nvPicPr>
          <p:cNvPr id="9" name="Image 2" descr="preencoded.png">    </p:cNvPr>
          <p:cNvPicPr>
            <a:picLocks noChangeAspect="1"/>
          </p:cNvPicPr>
          <p:nvPr/>
        </p:nvPicPr>
        <p:blipFill>
          <a:blip r:embed="rId3"/>
          <a:stretch>
            <a:fillRect/>
          </a:stretch>
        </p:blipFill>
        <p:spPr>
          <a:xfrm>
            <a:off x="713232" y="2743200"/>
            <a:ext cx="329184" cy="329184"/>
          </a:xfrm>
          <a:prstGeom prst="rect">
            <a:avLst/>
          </a:prstGeom>
        </p:spPr>
      </p:pic>
      <p:sp>
        <p:nvSpPr>
          <p:cNvPr id="10" name="Text 5"/>
          <p:cNvSpPr/>
          <p:nvPr/>
        </p:nvSpPr>
        <p:spPr>
          <a:xfrm>
            <a:off x="1143000" y="2468880"/>
            <a:ext cx="1508760"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Mobile
</a:t>
            </a:r>
            <a:endParaRPr lang="en-US" sz="1300" dirty="0"/>
          </a:p>
          <a:p>
            <a:pPr indent="0" marL="0">
              <a:buNone/>
            </a:pPr>
            <a:r>
              <a:rPr lang="en-US" sz="950" dirty="0">
                <a:solidFill>
                  <a:srgbClr val="F5E8EB"/>
                </a:solidFill>
                <a:latin typeface="Calibri" pitchFamily="34" charset="0"/>
                <a:ea typeface="Calibri" pitchFamily="34" charset="-122"/>
                <a:cs typeface="Calibri" pitchFamily="34" charset="-120"/>
              </a:rPr>
              <a:t>Kotlin MVVM</a:t>
            </a:r>
            <a:endParaRPr lang="en-US" sz="1300" dirty="0"/>
          </a:p>
        </p:txBody>
      </p:sp>
      <p:sp>
        <p:nvSpPr>
          <p:cNvPr id="11" name="Shape 6"/>
          <p:cNvSpPr/>
          <p:nvPr/>
        </p:nvSpPr>
        <p:spPr>
          <a:xfrm>
            <a:off x="3429000" y="1280160"/>
            <a:ext cx="2926080" cy="2331720"/>
          </a:xfrm>
          <a:prstGeom prst="roundRect">
            <a:avLst>
              <a:gd name="adj" fmla="val 3137"/>
            </a:avLst>
          </a:prstGeom>
          <a:solidFill>
            <a:srgbClr val="F5E8EB"/>
          </a:solidFill>
          <a:ln w="15875">
            <a:solidFill>
              <a:srgbClr val="6B1A2B"/>
            </a:solidFill>
            <a:prstDash val="solid"/>
          </a:ln>
          <a:effectLst>
            <a:outerShdw sx="100000" sy="100000" kx="0" ky="0" algn="bl" rotWithShape="0" blurRad="63500" dist="25400" dir="8100000">
              <a:srgbClr val="000000">
                <a:alpha val="12000"/>
              </a:srgbClr>
            </a:outerShdw>
          </a:effectLst>
        </p:spPr>
      </p:sp>
      <p:sp>
        <p:nvSpPr>
          <p:cNvPr id="12" name="Text 7"/>
          <p:cNvSpPr/>
          <p:nvPr/>
        </p:nvSpPr>
        <p:spPr>
          <a:xfrm>
            <a:off x="3429000" y="1371600"/>
            <a:ext cx="2926080" cy="365760"/>
          </a:xfrm>
          <a:prstGeom prst="rect">
            <a:avLst/>
          </a:prstGeom>
          <a:noFill/>
          <a:ln/>
        </p:spPr>
        <p:txBody>
          <a:bodyPr wrap="square" rtlCol="0" anchor="ctr"/>
          <a:lstStyle/>
          <a:p>
            <a:pPr algn="ctr" indent="0" marL="0">
              <a:buNone/>
            </a:pPr>
            <a:r>
              <a:rPr lang="en-US" sz="1400" b="1" dirty="0">
                <a:solidFill>
                  <a:srgbClr val="6B1A2B"/>
                </a:solidFill>
                <a:latin typeface="Georgia" pitchFamily="34" charset="0"/>
                <a:ea typeface="Georgia" pitchFamily="34" charset="-122"/>
                <a:cs typeface="Georgia" pitchFamily="34" charset="-120"/>
              </a:rPr>
              <a:t>Spring Boot REST API</a:t>
            </a:r>
            <a:endParaRPr lang="en-US" sz="1400" dirty="0"/>
          </a:p>
        </p:txBody>
      </p:sp>
      <p:sp>
        <p:nvSpPr>
          <p:cNvPr id="13" name="Text 8"/>
          <p:cNvSpPr/>
          <p:nvPr/>
        </p:nvSpPr>
        <p:spPr>
          <a:xfrm>
            <a:off x="3657600" y="1783080"/>
            <a:ext cx="2651760" cy="1737360"/>
          </a:xfrm>
          <a:prstGeom prst="rect">
            <a:avLst/>
          </a:prstGeom>
          <a:noFill/>
          <a:ln/>
        </p:spPr>
        <p:txBody>
          <a:bodyPr wrap="square" rtlCol="0" anchor="ctr"/>
          <a:lstStyle/>
          <a:p>
            <a:pPr marL="342900" indent="-342900">
              <a:spcAft>
                <a:spcPts val="300"/>
              </a:spcAft>
              <a:buSzPct val="100000"/>
              <a:buChar char="•"/>
            </a:pPr>
            <a:r>
              <a:rPr lang="en-US" sz="1150" dirty="0">
                <a:solidFill>
                  <a:srgbClr val="1A1A2E"/>
                </a:solidFill>
                <a:latin typeface="Calibri" pitchFamily="34" charset="0"/>
                <a:ea typeface="Calibri" pitchFamily="34" charset="-122"/>
                <a:cs typeface="Calibri" pitchFamily="34" charset="-120"/>
              </a:rPr>
              <a:t>Controller layer</a:t>
            </a:r>
            <a:endParaRPr lang="en-US" sz="1150" dirty="0"/>
          </a:p>
          <a:p>
            <a:pPr marL="342900" indent="-342900">
              <a:spcAft>
                <a:spcPts val="300"/>
              </a:spcAft>
              <a:buSzPct val="100000"/>
              <a:buChar char="•"/>
            </a:pPr>
            <a:r>
              <a:rPr lang="en-US" sz="1150" dirty="0">
                <a:solidFill>
                  <a:srgbClr val="1A1A2E"/>
                </a:solidFill>
                <a:latin typeface="Calibri" pitchFamily="34" charset="0"/>
                <a:ea typeface="Calibri" pitchFamily="34" charset="-122"/>
                <a:cs typeface="Calibri" pitchFamily="34" charset="-120"/>
              </a:rPr>
              <a:t>Service layer</a:t>
            </a:r>
            <a:endParaRPr lang="en-US" sz="1150" dirty="0"/>
          </a:p>
          <a:p>
            <a:pPr marL="342900" indent="-342900">
              <a:spcAft>
                <a:spcPts val="300"/>
              </a:spcAft>
              <a:buSzPct val="100000"/>
              <a:buChar char="•"/>
            </a:pPr>
            <a:r>
              <a:rPr lang="en-US" sz="1150" dirty="0">
                <a:solidFill>
                  <a:srgbClr val="1A1A2E"/>
                </a:solidFill>
                <a:latin typeface="Calibri" pitchFamily="34" charset="0"/>
                <a:ea typeface="Calibri" pitchFamily="34" charset="-122"/>
                <a:cs typeface="Calibri" pitchFamily="34" charset="-120"/>
              </a:rPr>
              <a:t>Repository layer</a:t>
            </a:r>
            <a:endParaRPr lang="en-US" sz="1150" dirty="0"/>
          </a:p>
          <a:p>
            <a:pPr marL="342900" indent="-342900">
              <a:spcAft>
                <a:spcPts val="300"/>
              </a:spcAft>
              <a:buSzPct val="100000"/>
              <a:buChar char="•"/>
            </a:pPr>
            <a:r>
              <a:rPr lang="en-US" sz="1150" dirty="0">
                <a:solidFill>
                  <a:srgbClr val="1A1A2E"/>
                </a:solidFill>
                <a:latin typeface="Calibri" pitchFamily="34" charset="0"/>
                <a:ea typeface="Calibri" pitchFamily="34" charset="-122"/>
                <a:cs typeface="Calibri" pitchFamily="34" charset="-120"/>
              </a:rPr>
              <a:t>Entity / JPA layer</a:t>
            </a:r>
            <a:endParaRPr lang="en-US" sz="1150" dirty="0"/>
          </a:p>
          <a:p>
            <a:pPr marL="342900" indent="-342900">
              <a:spcAft>
                <a:spcPts val="300"/>
              </a:spcAft>
              <a:buSzPct val="100000"/>
              <a:buChar char="•"/>
            </a:pPr>
            <a:r>
              <a:rPr lang="en-US" sz="1150" dirty="0">
                <a:solidFill>
                  <a:srgbClr val="1A1A2E"/>
                </a:solidFill>
                <a:latin typeface="Calibri" pitchFamily="34" charset="0"/>
                <a:ea typeface="Calibri" pitchFamily="34" charset="-122"/>
                <a:cs typeface="Calibri" pitchFamily="34" charset="-120"/>
              </a:rPr>
              <a:t>Security (JWT) + Config</a:t>
            </a:r>
            <a:endParaRPr lang="en-US" sz="1150" dirty="0"/>
          </a:p>
        </p:txBody>
      </p:sp>
      <p:sp>
        <p:nvSpPr>
          <p:cNvPr id="14" name="Shape 9"/>
          <p:cNvSpPr/>
          <p:nvPr/>
        </p:nvSpPr>
        <p:spPr>
          <a:xfrm>
            <a:off x="6675120" y="1874520"/>
            <a:ext cx="1920240" cy="1143000"/>
          </a:xfrm>
          <a:prstGeom prst="roundRect">
            <a:avLst>
              <a:gd name="adj" fmla="val 6400"/>
            </a:avLst>
          </a:prstGeom>
          <a:solidFill>
            <a:srgbClr val="6B1A2B"/>
          </a:solidFill>
          <a:ln/>
          <a:effectLst>
            <a:outerShdw sx="100000" sy="100000" kx="0" ky="0" algn="bl" rotWithShape="0" blurRad="63500" dist="25400" dir="8100000">
              <a:srgbClr val="000000">
                <a:alpha val="12000"/>
              </a:srgbClr>
            </a:outerShdw>
          </a:effectLst>
        </p:spPr>
      </p:sp>
      <p:pic>
        <p:nvPicPr>
          <p:cNvPr id="15" name="Image 3" descr="preencoded.png">    </p:cNvPr>
          <p:cNvPicPr>
            <a:picLocks noChangeAspect="1"/>
          </p:cNvPicPr>
          <p:nvPr/>
        </p:nvPicPr>
        <p:blipFill>
          <a:blip r:embed="rId4"/>
          <a:stretch>
            <a:fillRect/>
          </a:stretch>
        </p:blipFill>
        <p:spPr>
          <a:xfrm>
            <a:off x="7479792" y="2011680"/>
            <a:ext cx="310896" cy="310896"/>
          </a:xfrm>
          <a:prstGeom prst="rect">
            <a:avLst/>
          </a:prstGeom>
        </p:spPr>
      </p:pic>
      <p:sp>
        <p:nvSpPr>
          <p:cNvPr id="16" name="Text 10"/>
          <p:cNvSpPr/>
          <p:nvPr/>
        </p:nvSpPr>
        <p:spPr>
          <a:xfrm>
            <a:off x="6675120" y="2331720"/>
            <a:ext cx="1920240" cy="59436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PostgreSQL</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(Supabase)</a:t>
            </a:r>
            <a:endParaRPr lang="en-US" sz="1150" dirty="0"/>
          </a:p>
        </p:txBody>
      </p:sp>
      <p:sp>
        <p:nvSpPr>
          <p:cNvPr id="17" name="Shape 11"/>
          <p:cNvSpPr/>
          <p:nvPr/>
        </p:nvSpPr>
        <p:spPr>
          <a:xfrm>
            <a:off x="2697480" y="1801368"/>
            <a:ext cx="731520" cy="0"/>
          </a:xfrm>
          <a:prstGeom prst="line">
            <a:avLst/>
          </a:prstGeom>
          <a:noFill/>
          <a:ln w="25400">
            <a:solidFill>
              <a:srgbClr val="A26769"/>
            </a:solidFill>
            <a:prstDash val="solid"/>
            <a:tailEnd type="triangle"/>
          </a:ln>
        </p:spPr>
      </p:sp>
      <p:sp>
        <p:nvSpPr>
          <p:cNvPr id="18" name="Shape 12"/>
          <p:cNvSpPr/>
          <p:nvPr/>
        </p:nvSpPr>
        <p:spPr>
          <a:xfrm>
            <a:off x="2697480" y="2898648"/>
            <a:ext cx="731520" cy="0"/>
          </a:xfrm>
          <a:prstGeom prst="line">
            <a:avLst/>
          </a:prstGeom>
          <a:noFill/>
          <a:ln w="25400">
            <a:solidFill>
              <a:srgbClr val="A26769"/>
            </a:solidFill>
            <a:prstDash val="solid"/>
            <a:tailEnd type="triangle"/>
          </a:ln>
        </p:spPr>
      </p:sp>
      <p:sp>
        <p:nvSpPr>
          <p:cNvPr id="19" name="Shape 13"/>
          <p:cNvSpPr/>
          <p:nvPr/>
        </p:nvSpPr>
        <p:spPr>
          <a:xfrm>
            <a:off x="6355080" y="2441448"/>
            <a:ext cx="320040" cy="0"/>
          </a:xfrm>
          <a:prstGeom prst="line">
            <a:avLst/>
          </a:prstGeom>
          <a:noFill/>
          <a:ln w="25400">
            <a:solidFill>
              <a:srgbClr val="A26769"/>
            </a:solidFill>
            <a:prstDash val="solid"/>
            <a:headEnd type="triangle"/>
            <a:tailEnd type="triangle"/>
          </a:ln>
        </p:spPr>
      </p:sp>
      <p:sp>
        <p:nvSpPr>
          <p:cNvPr id="20" name="Text 14"/>
          <p:cNvSpPr/>
          <p:nvPr/>
        </p:nvSpPr>
        <p:spPr>
          <a:xfrm>
            <a:off x="2468880" y="3200400"/>
            <a:ext cx="1280160" cy="274320"/>
          </a:xfrm>
          <a:prstGeom prst="rect">
            <a:avLst/>
          </a:prstGeom>
          <a:noFill/>
          <a:ln/>
        </p:spPr>
        <p:txBody>
          <a:bodyPr wrap="square" rtlCol="0" anchor="ctr"/>
          <a:lstStyle/>
          <a:p>
            <a:pPr algn="ctr" indent="0" marL="0">
              <a:buNone/>
            </a:pPr>
            <a:r>
              <a:rPr lang="en-US" sz="850" i="1" dirty="0">
                <a:solidFill>
                  <a:srgbClr val="6B6B6B"/>
                </a:solidFill>
                <a:latin typeface="Calibri" pitchFamily="34" charset="0"/>
                <a:ea typeface="Calibri" pitchFamily="34" charset="-122"/>
                <a:cs typeface="Calibri" pitchFamily="34" charset="-120"/>
              </a:rPr>
              <a:t>REST / JSON  •  Bearer JWT</a:t>
            </a:r>
            <a:endParaRPr lang="en-US" sz="850" dirty="0"/>
          </a:p>
        </p:txBody>
      </p:sp>
      <p:sp>
        <p:nvSpPr>
          <p:cNvPr id="21" name="Shape 15"/>
          <p:cNvSpPr/>
          <p:nvPr/>
        </p:nvSpPr>
        <p:spPr>
          <a:xfrm>
            <a:off x="548640" y="3886200"/>
            <a:ext cx="8046720" cy="868680"/>
          </a:xfrm>
          <a:prstGeom prst="roundRect">
            <a:avLst>
              <a:gd name="adj" fmla="val 8421"/>
            </a:avLst>
          </a:prstGeom>
          <a:solidFill>
            <a:srgbClr val="FFFFFF"/>
          </a:solidFill>
          <a:ln w="12700">
            <a:solidFill>
              <a:srgbClr val="E8E0D8"/>
            </a:solidFill>
            <a:prstDash val="solid"/>
          </a:ln>
        </p:spPr>
      </p:sp>
      <p:sp>
        <p:nvSpPr>
          <p:cNvPr id="22" name="Text 16"/>
          <p:cNvSpPr/>
          <p:nvPr/>
        </p:nvSpPr>
        <p:spPr>
          <a:xfrm>
            <a:off x="731520" y="3886200"/>
            <a:ext cx="7680960" cy="868680"/>
          </a:xfrm>
          <a:prstGeom prst="rect">
            <a:avLst/>
          </a:prstGeom>
          <a:noFill/>
          <a:ln/>
        </p:spPr>
        <p:txBody>
          <a:bodyPr wrap="square" rtlCol="0" anchor="ctr"/>
          <a:lstStyle/>
          <a:p>
            <a:pPr indent="0" marL="0">
              <a:buNone/>
            </a:pPr>
            <a:r>
              <a:rPr lang="en-US" sz="1200" b="1" dirty="0">
                <a:solidFill>
                  <a:srgbClr val="6B1A2B"/>
                </a:solidFill>
                <a:latin typeface="Calibri" pitchFamily="34" charset="0"/>
                <a:ea typeface="Calibri" pitchFamily="34" charset="-122"/>
                <a:cs typeface="Calibri" pitchFamily="34" charset="-120"/>
              </a:rPr>
              <a:t>Design patterns: </a:t>
            </a:r>
            <a:pPr indent="0" marL="0">
              <a:buNone/>
            </a:pPr>
            <a:r>
              <a:rPr lang="en-US" sz="1200" dirty="0">
                <a:solidFill>
                  <a:srgbClr val="1A1A2E"/>
                </a:solidFill>
                <a:latin typeface="Calibri" pitchFamily="34" charset="0"/>
                <a:ea typeface="Calibri" pitchFamily="34" charset="-122"/>
                <a:cs typeface="Calibri" pitchFamily="34" charset="-120"/>
              </a:rPr>
              <a:t>Factory (order creation) • Adapter (entity→DTO) • Strategy (status transitions) • Observer (notifications)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566928" cy="566928"/>
          </a:xfrm>
          <a:prstGeom prst="ellipse">
            <a:avLst/>
          </a:prstGeom>
          <a:solidFill>
            <a:srgbClr val="6B1A2B"/>
          </a:solidFill>
          <a:ln/>
          <a:effectLst>
            <a:outerShdw sx="100000" sy="100000" kx="0" ky="0" algn="bl" rotWithShape="0" blurRad="63500" dist="25400" dir="81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690372" y="507492"/>
            <a:ext cx="283464" cy="283464"/>
          </a:xfrm>
          <a:prstGeom prst="rect">
            <a:avLst/>
          </a:prstGeom>
        </p:spPr>
      </p:pic>
      <p:sp>
        <p:nvSpPr>
          <p:cNvPr id="4" name="Text 1"/>
          <p:cNvSpPr/>
          <p:nvPr/>
        </p:nvSpPr>
        <p:spPr>
          <a:xfrm>
            <a:off x="1280160" y="365760"/>
            <a:ext cx="7498080" cy="566928"/>
          </a:xfrm>
          <a:prstGeom prst="rect">
            <a:avLst/>
          </a:prstGeom>
          <a:noFill/>
          <a:ln/>
        </p:spPr>
        <p:txBody>
          <a:bodyPr wrap="square" lIns="0" tIns="0" rIns="0" bIns="0" rtlCol="0" anchor="ctr"/>
          <a:lstStyle/>
          <a:p>
            <a:pPr indent="0" marL="0">
              <a:buNone/>
            </a:pPr>
            <a:r>
              <a:rPr lang="en-US" sz="3000" b="1" dirty="0">
                <a:solidFill>
                  <a:srgbClr val="6B1A2B"/>
                </a:solidFill>
                <a:latin typeface="Georgia" pitchFamily="34" charset="0"/>
                <a:ea typeface="Georgia" pitchFamily="34" charset="-122"/>
                <a:cs typeface="Georgia" pitchFamily="34" charset="-120"/>
              </a:rPr>
              <a:t>Data Flow: Order → Payment → Notify</a:t>
            </a:r>
            <a:endParaRPr lang="en-US" sz="3000" dirty="0"/>
          </a:p>
        </p:txBody>
      </p:sp>
      <p:sp>
        <p:nvSpPr>
          <p:cNvPr id="5" name="Text 2"/>
          <p:cNvSpPr/>
          <p:nvPr/>
        </p:nvSpPr>
        <p:spPr>
          <a:xfrm>
            <a:off x="548640" y="1143000"/>
            <a:ext cx="8229600" cy="365760"/>
          </a:xfrm>
          <a:prstGeom prst="rect">
            <a:avLst/>
          </a:prstGeom>
          <a:noFill/>
          <a:ln/>
        </p:spPr>
        <p:txBody>
          <a:bodyPr wrap="square" rtlCol="0" anchor="ctr"/>
          <a:lstStyle/>
          <a:p>
            <a:pPr indent="0" marL="0">
              <a:buNone/>
            </a:pPr>
            <a:r>
              <a:rPr lang="en-US" sz="1400" dirty="0">
                <a:solidFill>
                  <a:srgbClr val="1A1A2E"/>
                </a:solidFill>
                <a:latin typeface="Calibri" pitchFamily="34" charset="0"/>
                <a:ea typeface="Calibri" pitchFamily="34" charset="-122"/>
                <a:cs typeface="Calibri" pitchFamily="34" charset="-120"/>
              </a:rPr>
              <a:t>Example end-to-end flow when a customer places a delivery order:</a:t>
            </a:r>
            <a:endParaRPr lang="en-US" sz="1400" dirty="0"/>
          </a:p>
        </p:txBody>
      </p:sp>
      <p:sp>
        <p:nvSpPr>
          <p:cNvPr id="6" name="Shape 3"/>
          <p:cNvSpPr/>
          <p:nvPr/>
        </p:nvSpPr>
        <p:spPr>
          <a:xfrm>
            <a:off x="548640" y="1783080"/>
            <a:ext cx="1517904" cy="1554480"/>
          </a:xfrm>
          <a:prstGeom prst="roundRect">
            <a:avLst>
              <a:gd name="adj" fmla="val 4819"/>
            </a:avLst>
          </a:prstGeom>
          <a:solidFill>
            <a:srgbClr val="F5E8EB"/>
          </a:solidFill>
          <a:ln/>
          <a:effectLst>
            <a:outerShdw sx="100000" sy="100000" kx="0" ky="0" algn="bl" rotWithShape="0" blurRad="63500" dist="25400" dir="8100000">
              <a:srgbClr val="000000">
                <a:alpha val="12000"/>
              </a:srgbClr>
            </a:outerShdw>
          </a:effectLst>
        </p:spPr>
      </p:sp>
      <p:sp>
        <p:nvSpPr>
          <p:cNvPr id="7" name="Shape 4"/>
          <p:cNvSpPr/>
          <p:nvPr/>
        </p:nvSpPr>
        <p:spPr>
          <a:xfrm>
            <a:off x="1097280" y="1938528"/>
            <a:ext cx="420624" cy="420624"/>
          </a:xfrm>
          <a:prstGeom prst="ellipse">
            <a:avLst/>
          </a:prstGeom>
          <a:solidFill>
            <a:srgbClr val="6B1A2B"/>
          </a:solidFill>
          <a:ln/>
        </p:spPr>
      </p:sp>
      <p:sp>
        <p:nvSpPr>
          <p:cNvPr id="8" name="Text 5"/>
          <p:cNvSpPr/>
          <p:nvPr/>
        </p:nvSpPr>
        <p:spPr>
          <a:xfrm>
            <a:off x="1097280" y="193852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9" name="Text 6"/>
          <p:cNvSpPr/>
          <p:nvPr/>
        </p:nvSpPr>
        <p:spPr>
          <a:xfrm>
            <a:off x="594360" y="2395728"/>
            <a:ext cx="1426464" cy="320040"/>
          </a:xfrm>
          <a:prstGeom prst="rect">
            <a:avLst/>
          </a:prstGeom>
          <a:noFill/>
          <a:ln/>
        </p:spPr>
        <p:txBody>
          <a:bodyPr wrap="square" rtlCol="0" anchor="ctr"/>
          <a:lstStyle/>
          <a:p>
            <a:pPr algn="ctr" indent="0" marL="0">
              <a:buNone/>
            </a:pPr>
            <a:r>
              <a:rPr lang="en-US" sz="1250" b="1" dirty="0">
                <a:solidFill>
                  <a:srgbClr val="6B1A2B"/>
                </a:solidFill>
                <a:latin typeface="Georgia" pitchFamily="34" charset="0"/>
                <a:ea typeface="Georgia" pitchFamily="34" charset="-122"/>
                <a:cs typeface="Georgia" pitchFamily="34" charset="-120"/>
              </a:rPr>
              <a:t>Checkout</a:t>
            </a:r>
            <a:endParaRPr lang="en-US" sz="1250" dirty="0"/>
          </a:p>
        </p:txBody>
      </p:sp>
      <p:sp>
        <p:nvSpPr>
          <p:cNvPr id="10" name="Text 7"/>
          <p:cNvSpPr/>
          <p:nvPr/>
        </p:nvSpPr>
        <p:spPr>
          <a:xfrm>
            <a:off x="621792" y="2697480"/>
            <a:ext cx="1371600" cy="594360"/>
          </a:xfrm>
          <a:prstGeom prst="rect">
            <a:avLst/>
          </a:prstGeom>
          <a:noFill/>
          <a:ln/>
        </p:spPr>
        <p:txBody>
          <a:bodyPr wrap="square" rtlCol="0" anchor="ctr"/>
          <a:lstStyle/>
          <a:p>
            <a:pPr algn="ctr" indent="0" marL="0">
              <a:buNone/>
            </a:pPr>
            <a:r>
              <a:rPr lang="en-US" sz="830" dirty="0">
                <a:solidFill>
                  <a:srgbClr val="6B6B6B"/>
                </a:solidFill>
                <a:latin typeface="Calibri" pitchFamily="34" charset="0"/>
                <a:ea typeface="Calibri" pitchFamily="34" charset="-122"/>
                <a:cs typeface="Calibri" pitchFamily="34" charset="-120"/>
              </a:rPr>
              <a:t>POST /api/orders</a:t>
            </a:r>
            <a:endParaRPr lang="en-US" sz="830" dirty="0"/>
          </a:p>
          <a:p>
            <a:pPr algn="ctr" indent="0" marL="0">
              <a:buNone/>
            </a:pPr>
            <a:r>
              <a:rPr lang="en-US" sz="830" dirty="0">
                <a:solidFill>
                  <a:srgbClr val="6B6B6B"/>
                </a:solidFill>
                <a:latin typeface="Calibri" pitchFamily="34" charset="0"/>
                <a:ea typeface="Calibri" pitchFamily="34" charset="-122"/>
                <a:cs typeface="Calibri" pitchFamily="34" charset="-120"/>
              </a:rPr>
              <a:t>OrderFactory builds order</a:t>
            </a:r>
            <a:endParaRPr lang="en-US" sz="830" dirty="0"/>
          </a:p>
        </p:txBody>
      </p:sp>
      <p:sp>
        <p:nvSpPr>
          <p:cNvPr id="11" name="Shape 8"/>
          <p:cNvSpPr/>
          <p:nvPr/>
        </p:nvSpPr>
        <p:spPr>
          <a:xfrm>
            <a:off x="2084832" y="2560320"/>
            <a:ext cx="146304" cy="0"/>
          </a:xfrm>
          <a:prstGeom prst="line">
            <a:avLst/>
          </a:prstGeom>
          <a:noFill/>
          <a:ln w="25400">
            <a:solidFill>
              <a:srgbClr val="A26769"/>
            </a:solidFill>
            <a:prstDash val="solid"/>
            <a:tailEnd type="triangle"/>
          </a:ln>
        </p:spPr>
      </p:sp>
      <p:sp>
        <p:nvSpPr>
          <p:cNvPr id="12" name="Shape 9"/>
          <p:cNvSpPr/>
          <p:nvPr/>
        </p:nvSpPr>
        <p:spPr>
          <a:xfrm>
            <a:off x="2249424" y="1783080"/>
            <a:ext cx="1517904" cy="1554480"/>
          </a:xfrm>
          <a:prstGeom prst="roundRect">
            <a:avLst>
              <a:gd name="adj" fmla="val 4819"/>
            </a:avLst>
          </a:prstGeom>
          <a:solidFill>
            <a:srgbClr val="F5E8EB"/>
          </a:solidFill>
          <a:ln/>
          <a:effectLst>
            <a:outerShdw sx="100000" sy="100000" kx="0" ky="0" algn="bl" rotWithShape="0" blurRad="63500" dist="25400" dir="8100000">
              <a:srgbClr val="000000">
                <a:alpha val="12000"/>
              </a:srgbClr>
            </a:outerShdw>
          </a:effectLst>
        </p:spPr>
      </p:sp>
      <p:sp>
        <p:nvSpPr>
          <p:cNvPr id="13" name="Shape 10"/>
          <p:cNvSpPr/>
          <p:nvPr/>
        </p:nvSpPr>
        <p:spPr>
          <a:xfrm>
            <a:off x="2798064" y="1938528"/>
            <a:ext cx="420624" cy="420624"/>
          </a:xfrm>
          <a:prstGeom prst="ellipse">
            <a:avLst/>
          </a:prstGeom>
          <a:solidFill>
            <a:srgbClr val="6B1A2B"/>
          </a:solidFill>
          <a:ln/>
        </p:spPr>
      </p:sp>
      <p:sp>
        <p:nvSpPr>
          <p:cNvPr id="14" name="Text 11"/>
          <p:cNvSpPr/>
          <p:nvPr/>
        </p:nvSpPr>
        <p:spPr>
          <a:xfrm>
            <a:off x="2798064" y="193852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5" name="Text 12"/>
          <p:cNvSpPr/>
          <p:nvPr/>
        </p:nvSpPr>
        <p:spPr>
          <a:xfrm>
            <a:off x="2295144" y="2395728"/>
            <a:ext cx="1426464" cy="320040"/>
          </a:xfrm>
          <a:prstGeom prst="rect">
            <a:avLst/>
          </a:prstGeom>
          <a:noFill/>
          <a:ln/>
        </p:spPr>
        <p:txBody>
          <a:bodyPr wrap="square" rtlCol="0" anchor="ctr"/>
          <a:lstStyle/>
          <a:p>
            <a:pPr algn="ctr" indent="0" marL="0">
              <a:buNone/>
            </a:pPr>
            <a:r>
              <a:rPr lang="en-US" sz="1250" b="1" dirty="0">
                <a:solidFill>
                  <a:srgbClr val="6B1A2B"/>
                </a:solidFill>
                <a:latin typeface="Georgia" pitchFamily="34" charset="0"/>
                <a:ea typeface="Georgia" pitchFamily="34" charset="-122"/>
                <a:cs typeface="Georgia" pitchFamily="34" charset="-120"/>
              </a:rPr>
              <a:t>Admin Quote</a:t>
            </a:r>
            <a:endParaRPr lang="en-US" sz="1250" dirty="0"/>
          </a:p>
        </p:txBody>
      </p:sp>
      <p:sp>
        <p:nvSpPr>
          <p:cNvPr id="16" name="Text 13"/>
          <p:cNvSpPr/>
          <p:nvPr/>
        </p:nvSpPr>
        <p:spPr>
          <a:xfrm>
            <a:off x="2322576" y="2697480"/>
            <a:ext cx="1371600" cy="594360"/>
          </a:xfrm>
          <a:prstGeom prst="rect">
            <a:avLst/>
          </a:prstGeom>
          <a:noFill/>
          <a:ln/>
        </p:spPr>
        <p:txBody>
          <a:bodyPr wrap="square" rtlCol="0" anchor="ctr"/>
          <a:lstStyle/>
          <a:p>
            <a:pPr algn="ctr" indent="0" marL="0">
              <a:buNone/>
            </a:pPr>
            <a:r>
              <a:rPr lang="en-US" sz="830" dirty="0">
                <a:solidFill>
                  <a:srgbClr val="6B6B6B"/>
                </a:solidFill>
                <a:latin typeface="Calibri" pitchFamily="34" charset="0"/>
                <a:ea typeface="Calibri" pitchFamily="34" charset="-122"/>
                <a:cs typeface="Calibri" pitchFamily="34" charset="-120"/>
              </a:rPr>
              <a:t>PUT .../delivery-fee</a:t>
            </a:r>
            <a:endParaRPr lang="en-US" sz="830" dirty="0"/>
          </a:p>
          <a:p>
            <a:pPr algn="ctr" indent="0" marL="0">
              <a:buNone/>
            </a:pPr>
            <a:r>
              <a:rPr lang="en-US" sz="830" dirty="0">
                <a:solidFill>
                  <a:srgbClr val="6B6B6B"/>
                </a:solidFill>
                <a:latin typeface="Calibri" pitchFamily="34" charset="0"/>
                <a:ea typeface="Calibri" pitchFamily="34" charset="-122"/>
                <a:cs typeface="Calibri" pitchFamily="34" charset="-120"/>
              </a:rPr>
              <a:t>Fee added to total</a:t>
            </a:r>
            <a:endParaRPr lang="en-US" sz="830" dirty="0"/>
          </a:p>
        </p:txBody>
      </p:sp>
      <p:sp>
        <p:nvSpPr>
          <p:cNvPr id="17" name="Shape 14"/>
          <p:cNvSpPr/>
          <p:nvPr/>
        </p:nvSpPr>
        <p:spPr>
          <a:xfrm>
            <a:off x="3785616" y="2560320"/>
            <a:ext cx="146304" cy="0"/>
          </a:xfrm>
          <a:prstGeom prst="line">
            <a:avLst/>
          </a:prstGeom>
          <a:noFill/>
          <a:ln w="25400">
            <a:solidFill>
              <a:srgbClr val="A26769"/>
            </a:solidFill>
            <a:prstDash val="solid"/>
            <a:tailEnd type="triangle"/>
          </a:ln>
        </p:spPr>
      </p:sp>
      <p:sp>
        <p:nvSpPr>
          <p:cNvPr id="18" name="Shape 15"/>
          <p:cNvSpPr/>
          <p:nvPr/>
        </p:nvSpPr>
        <p:spPr>
          <a:xfrm>
            <a:off x="3950208" y="1783080"/>
            <a:ext cx="1517904" cy="1554480"/>
          </a:xfrm>
          <a:prstGeom prst="roundRect">
            <a:avLst>
              <a:gd name="adj" fmla="val 4819"/>
            </a:avLst>
          </a:prstGeom>
          <a:solidFill>
            <a:srgbClr val="F5E8EB"/>
          </a:solidFill>
          <a:ln/>
          <a:effectLst>
            <a:outerShdw sx="100000" sy="100000" kx="0" ky="0" algn="bl" rotWithShape="0" blurRad="63500" dist="25400" dir="8100000">
              <a:srgbClr val="000000">
                <a:alpha val="12000"/>
              </a:srgbClr>
            </a:outerShdw>
          </a:effectLst>
        </p:spPr>
      </p:sp>
      <p:sp>
        <p:nvSpPr>
          <p:cNvPr id="19" name="Shape 16"/>
          <p:cNvSpPr/>
          <p:nvPr/>
        </p:nvSpPr>
        <p:spPr>
          <a:xfrm>
            <a:off x="4498848" y="1938528"/>
            <a:ext cx="420624" cy="420624"/>
          </a:xfrm>
          <a:prstGeom prst="ellipse">
            <a:avLst/>
          </a:prstGeom>
          <a:solidFill>
            <a:srgbClr val="6B1A2B"/>
          </a:solidFill>
          <a:ln/>
        </p:spPr>
      </p:sp>
      <p:sp>
        <p:nvSpPr>
          <p:cNvPr id="20" name="Text 17"/>
          <p:cNvSpPr/>
          <p:nvPr/>
        </p:nvSpPr>
        <p:spPr>
          <a:xfrm>
            <a:off x="4498848" y="193852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1" name="Text 18"/>
          <p:cNvSpPr/>
          <p:nvPr/>
        </p:nvSpPr>
        <p:spPr>
          <a:xfrm>
            <a:off x="3995928" y="2395728"/>
            <a:ext cx="1426464" cy="320040"/>
          </a:xfrm>
          <a:prstGeom prst="rect">
            <a:avLst/>
          </a:prstGeom>
          <a:noFill/>
          <a:ln/>
        </p:spPr>
        <p:txBody>
          <a:bodyPr wrap="square" rtlCol="0" anchor="ctr"/>
          <a:lstStyle/>
          <a:p>
            <a:pPr algn="ctr" indent="0" marL="0">
              <a:buNone/>
            </a:pPr>
            <a:r>
              <a:rPr lang="en-US" sz="1250" b="1" dirty="0">
                <a:solidFill>
                  <a:srgbClr val="6B1A2B"/>
                </a:solidFill>
                <a:latin typeface="Georgia" pitchFamily="34" charset="0"/>
                <a:ea typeface="Georgia" pitchFamily="34" charset="-122"/>
                <a:cs typeface="Georgia" pitchFamily="34" charset="-120"/>
              </a:rPr>
              <a:t>Pay Proof</a:t>
            </a:r>
            <a:endParaRPr lang="en-US" sz="1250" dirty="0"/>
          </a:p>
        </p:txBody>
      </p:sp>
      <p:sp>
        <p:nvSpPr>
          <p:cNvPr id="22" name="Text 19"/>
          <p:cNvSpPr/>
          <p:nvPr/>
        </p:nvSpPr>
        <p:spPr>
          <a:xfrm>
            <a:off x="4023360" y="2697480"/>
            <a:ext cx="1371600" cy="594360"/>
          </a:xfrm>
          <a:prstGeom prst="rect">
            <a:avLst/>
          </a:prstGeom>
          <a:noFill/>
          <a:ln/>
        </p:spPr>
        <p:txBody>
          <a:bodyPr wrap="square" rtlCol="0" anchor="ctr"/>
          <a:lstStyle/>
          <a:p>
            <a:pPr algn="ctr" indent="0" marL="0">
              <a:buNone/>
            </a:pPr>
            <a:r>
              <a:rPr lang="en-US" sz="830" dirty="0">
                <a:solidFill>
                  <a:srgbClr val="6B6B6B"/>
                </a:solidFill>
                <a:latin typeface="Calibri" pitchFamily="34" charset="0"/>
                <a:ea typeface="Calibri" pitchFamily="34" charset="-122"/>
                <a:cs typeface="Calibri" pitchFamily="34" charset="-120"/>
              </a:rPr>
              <a:t>PUT .../submit-payment</a:t>
            </a:r>
            <a:endParaRPr lang="en-US" sz="830" dirty="0"/>
          </a:p>
          <a:p>
            <a:pPr algn="ctr" indent="0" marL="0">
              <a:buNone/>
            </a:pPr>
            <a:r>
              <a:rPr lang="en-US" sz="830" dirty="0">
                <a:solidFill>
                  <a:srgbClr val="6B6B6B"/>
                </a:solidFill>
                <a:latin typeface="Calibri" pitchFamily="34" charset="0"/>
                <a:ea typeface="Calibri" pitchFamily="34" charset="-122"/>
                <a:cs typeface="Calibri" pitchFamily="34" charset="-120"/>
              </a:rPr>
              <a:t>FileUploadService stores</a:t>
            </a:r>
            <a:endParaRPr lang="en-US" sz="830" dirty="0"/>
          </a:p>
        </p:txBody>
      </p:sp>
      <p:sp>
        <p:nvSpPr>
          <p:cNvPr id="23" name="Shape 20"/>
          <p:cNvSpPr/>
          <p:nvPr/>
        </p:nvSpPr>
        <p:spPr>
          <a:xfrm>
            <a:off x="5486400" y="2560320"/>
            <a:ext cx="146304" cy="0"/>
          </a:xfrm>
          <a:prstGeom prst="line">
            <a:avLst/>
          </a:prstGeom>
          <a:noFill/>
          <a:ln w="25400">
            <a:solidFill>
              <a:srgbClr val="A26769"/>
            </a:solidFill>
            <a:prstDash val="solid"/>
            <a:tailEnd type="triangle"/>
          </a:ln>
        </p:spPr>
      </p:sp>
      <p:sp>
        <p:nvSpPr>
          <p:cNvPr id="24" name="Shape 21"/>
          <p:cNvSpPr/>
          <p:nvPr/>
        </p:nvSpPr>
        <p:spPr>
          <a:xfrm>
            <a:off x="5650992" y="1783080"/>
            <a:ext cx="1517904" cy="1554480"/>
          </a:xfrm>
          <a:prstGeom prst="roundRect">
            <a:avLst>
              <a:gd name="adj" fmla="val 4819"/>
            </a:avLst>
          </a:prstGeom>
          <a:solidFill>
            <a:srgbClr val="F5E8EB"/>
          </a:solidFill>
          <a:ln/>
          <a:effectLst>
            <a:outerShdw sx="100000" sy="100000" kx="0" ky="0" algn="bl" rotWithShape="0" blurRad="63500" dist="25400" dir="8100000">
              <a:srgbClr val="000000">
                <a:alpha val="12000"/>
              </a:srgbClr>
            </a:outerShdw>
          </a:effectLst>
        </p:spPr>
      </p:sp>
      <p:sp>
        <p:nvSpPr>
          <p:cNvPr id="25" name="Shape 22"/>
          <p:cNvSpPr/>
          <p:nvPr/>
        </p:nvSpPr>
        <p:spPr>
          <a:xfrm>
            <a:off x="6199632" y="1938528"/>
            <a:ext cx="420624" cy="420624"/>
          </a:xfrm>
          <a:prstGeom prst="ellipse">
            <a:avLst/>
          </a:prstGeom>
          <a:solidFill>
            <a:srgbClr val="6B1A2B"/>
          </a:solidFill>
          <a:ln/>
        </p:spPr>
      </p:sp>
      <p:sp>
        <p:nvSpPr>
          <p:cNvPr id="26" name="Text 23"/>
          <p:cNvSpPr/>
          <p:nvPr/>
        </p:nvSpPr>
        <p:spPr>
          <a:xfrm>
            <a:off x="6199632" y="193852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7" name="Text 24"/>
          <p:cNvSpPr/>
          <p:nvPr/>
        </p:nvSpPr>
        <p:spPr>
          <a:xfrm>
            <a:off x="5696712" y="2395728"/>
            <a:ext cx="1426464" cy="320040"/>
          </a:xfrm>
          <a:prstGeom prst="rect">
            <a:avLst/>
          </a:prstGeom>
          <a:noFill/>
          <a:ln/>
        </p:spPr>
        <p:txBody>
          <a:bodyPr wrap="square" rtlCol="0" anchor="ctr"/>
          <a:lstStyle/>
          <a:p>
            <a:pPr algn="ctr" indent="0" marL="0">
              <a:buNone/>
            </a:pPr>
            <a:r>
              <a:rPr lang="en-US" sz="1250" b="1" dirty="0">
                <a:solidFill>
                  <a:srgbClr val="6B1A2B"/>
                </a:solidFill>
                <a:latin typeface="Georgia" pitchFamily="34" charset="0"/>
                <a:ea typeface="Georgia" pitchFamily="34" charset="-122"/>
                <a:cs typeface="Georgia" pitchFamily="34" charset="-120"/>
              </a:rPr>
              <a:t>Confirm</a:t>
            </a:r>
            <a:endParaRPr lang="en-US" sz="1250" dirty="0"/>
          </a:p>
        </p:txBody>
      </p:sp>
      <p:sp>
        <p:nvSpPr>
          <p:cNvPr id="28" name="Text 25"/>
          <p:cNvSpPr/>
          <p:nvPr/>
        </p:nvSpPr>
        <p:spPr>
          <a:xfrm>
            <a:off x="5724144" y="2697480"/>
            <a:ext cx="1371600" cy="594360"/>
          </a:xfrm>
          <a:prstGeom prst="rect">
            <a:avLst/>
          </a:prstGeom>
          <a:noFill/>
          <a:ln/>
        </p:spPr>
        <p:txBody>
          <a:bodyPr wrap="square" rtlCol="0" anchor="ctr"/>
          <a:lstStyle/>
          <a:p>
            <a:pPr algn="ctr" indent="0" marL="0">
              <a:buNone/>
            </a:pPr>
            <a:r>
              <a:rPr lang="en-US" sz="830" dirty="0">
                <a:solidFill>
                  <a:srgbClr val="6B6B6B"/>
                </a:solidFill>
                <a:latin typeface="Calibri" pitchFamily="34" charset="0"/>
                <a:ea typeface="Calibri" pitchFamily="34" charset="-122"/>
                <a:cs typeface="Calibri" pitchFamily="34" charset="-120"/>
              </a:rPr>
              <a:t>PUT .../status</a:t>
            </a:r>
            <a:endParaRPr lang="en-US" sz="830" dirty="0"/>
          </a:p>
          <a:p>
            <a:pPr algn="ctr" indent="0" marL="0">
              <a:buNone/>
            </a:pPr>
            <a:r>
              <a:rPr lang="en-US" sz="830" dirty="0">
                <a:solidFill>
                  <a:srgbClr val="6B6B6B"/>
                </a:solidFill>
                <a:latin typeface="Calibri" pitchFamily="34" charset="0"/>
                <a:ea typeface="Calibri" pitchFamily="34" charset="-122"/>
                <a:cs typeface="Calibri" pitchFamily="34" charset="-120"/>
              </a:rPr>
              <a:t>Strategy validates</a:t>
            </a:r>
            <a:endParaRPr lang="en-US" sz="830" dirty="0"/>
          </a:p>
        </p:txBody>
      </p:sp>
      <p:sp>
        <p:nvSpPr>
          <p:cNvPr id="29" name="Shape 26"/>
          <p:cNvSpPr/>
          <p:nvPr/>
        </p:nvSpPr>
        <p:spPr>
          <a:xfrm>
            <a:off x="7187184" y="2560320"/>
            <a:ext cx="146304" cy="0"/>
          </a:xfrm>
          <a:prstGeom prst="line">
            <a:avLst/>
          </a:prstGeom>
          <a:noFill/>
          <a:ln w="25400">
            <a:solidFill>
              <a:srgbClr val="A26769"/>
            </a:solidFill>
            <a:prstDash val="solid"/>
            <a:tailEnd type="triangle"/>
          </a:ln>
        </p:spPr>
      </p:sp>
      <p:sp>
        <p:nvSpPr>
          <p:cNvPr id="30" name="Shape 27"/>
          <p:cNvSpPr/>
          <p:nvPr/>
        </p:nvSpPr>
        <p:spPr>
          <a:xfrm>
            <a:off x="7351776" y="1783080"/>
            <a:ext cx="1517904" cy="1554480"/>
          </a:xfrm>
          <a:prstGeom prst="roundRect">
            <a:avLst>
              <a:gd name="adj" fmla="val 4819"/>
            </a:avLst>
          </a:prstGeom>
          <a:solidFill>
            <a:srgbClr val="6B1A2B"/>
          </a:solidFill>
          <a:ln/>
          <a:effectLst>
            <a:outerShdw sx="100000" sy="100000" kx="0" ky="0" algn="bl" rotWithShape="0" blurRad="63500" dist="25400" dir="8100000">
              <a:srgbClr val="000000">
                <a:alpha val="12000"/>
              </a:srgbClr>
            </a:outerShdw>
          </a:effectLst>
        </p:spPr>
      </p:sp>
      <p:sp>
        <p:nvSpPr>
          <p:cNvPr id="31" name="Shape 28"/>
          <p:cNvSpPr/>
          <p:nvPr/>
        </p:nvSpPr>
        <p:spPr>
          <a:xfrm>
            <a:off x="7900416" y="1938528"/>
            <a:ext cx="420624" cy="420624"/>
          </a:xfrm>
          <a:prstGeom prst="ellipse">
            <a:avLst/>
          </a:prstGeom>
          <a:solidFill>
            <a:srgbClr val="FFFFFF"/>
          </a:solidFill>
          <a:ln/>
        </p:spPr>
      </p:sp>
      <p:sp>
        <p:nvSpPr>
          <p:cNvPr id="32" name="Text 29"/>
          <p:cNvSpPr/>
          <p:nvPr/>
        </p:nvSpPr>
        <p:spPr>
          <a:xfrm>
            <a:off x="7900416" y="1938528"/>
            <a:ext cx="420624" cy="420624"/>
          </a:xfrm>
          <a:prstGeom prst="rect">
            <a:avLst/>
          </a:prstGeom>
          <a:noFill/>
          <a:ln/>
        </p:spPr>
        <p:txBody>
          <a:bodyPr wrap="square" lIns="0" tIns="0" rIns="0" bIns="0" rtlCol="0" anchor="ctr"/>
          <a:lstStyle/>
          <a:p>
            <a:pPr algn="ctr" indent="0" marL="0">
              <a:buNone/>
            </a:pPr>
            <a:r>
              <a:rPr lang="en-US" sz="1600" b="1" dirty="0">
                <a:solidFill>
                  <a:srgbClr val="6B1A2B"/>
                </a:solidFill>
                <a:latin typeface="Georgia" pitchFamily="34" charset="0"/>
                <a:ea typeface="Georgia" pitchFamily="34" charset="-122"/>
                <a:cs typeface="Georgia" pitchFamily="34" charset="-120"/>
              </a:rPr>
              <a:t>5</a:t>
            </a:r>
            <a:endParaRPr lang="en-US" sz="1600" dirty="0"/>
          </a:p>
        </p:txBody>
      </p:sp>
      <p:sp>
        <p:nvSpPr>
          <p:cNvPr id="33" name="Text 30"/>
          <p:cNvSpPr/>
          <p:nvPr/>
        </p:nvSpPr>
        <p:spPr>
          <a:xfrm>
            <a:off x="7397496" y="2395728"/>
            <a:ext cx="1426464" cy="320040"/>
          </a:xfrm>
          <a:prstGeom prst="rect">
            <a:avLst/>
          </a:prstGeom>
          <a:noFill/>
          <a:ln/>
        </p:spPr>
        <p:txBody>
          <a:bodyPr wrap="square" rtlCol="0" anchor="ctr"/>
          <a:lstStyle/>
          <a:p>
            <a:pPr algn="ctr" indent="0" marL="0">
              <a:buNone/>
            </a:pPr>
            <a:r>
              <a:rPr lang="en-US" sz="1250" b="1" dirty="0">
                <a:solidFill>
                  <a:srgbClr val="FFFFFF"/>
                </a:solidFill>
                <a:latin typeface="Georgia" pitchFamily="34" charset="0"/>
                <a:ea typeface="Georgia" pitchFamily="34" charset="-122"/>
                <a:cs typeface="Georgia" pitchFamily="34" charset="-120"/>
              </a:rPr>
              <a:t>Notify</a:t>
            </a:r>
            <a:endParaRPr lang="en-US" sz="1250" dirty="0"/>
          </a:p>
        </p:txBody>
      </p:sp>
      <p:sp>
        <p:nvSpPr>
          <p:cNvPr id="34" name="Text 31"/>
          <p:cNvSpPr/>
          <p:nvPr/>
        </p:nvSpPr>
        <p:spPr>
          <a:xfrm>
            <a:off x="7424928" y="2697480"/>
            <a:ext cx="1371600" cy="594360"/>
          </a:xfrm>
          <a:prstGeom prst="rect">
            <a:avLst/>
          </a:prstGeom>
          <a:noFill/>
          <a:ln/>
        </p:spPr>
        <p:txBody>
          <a:bodyPr wrap="square" rtlCol="0" anchor="ctr"/>
          <a:lstStyle/>
          <a:p>
            <a:pPr algn="ctr" indent="0" marL="0">
              <a:buNone/>
            </a:pPr>
            <a:r>
              <a:rPr lang="en-US" sz="830" dirty="0">
                <a:solidFill>
                  <a:srgbClr val="F5E8EB"/>
                </a:solidFill>
                <a:latin typeface="Calibri" pitchFamily="34" charset="0"/>
                <a:ea typeface="Calibri" pitchFamily="34" charset="-122"/>
                <a:cs typeface="Calibri" pitchFamily="34" charset="-120"/>
              </a:rPr>
              <a:t>Observer → WebSocket</a:t>
            </a:r>
            <a:endParaRPr lang="en-US" sz="830" dirty="0"/>
          </a:p>
          <a:p>
            <a:pPr algn="ctr" indent="0" marL="0">
              <a:buNone/>
            </a:pPr>
            <a:r>
              <a:rPr lang="en-US" sz="830" dirty="0">
                <a:solidFill>
                  <a:srgbClr val="F5E8EB"/>
                </a:solidFill>
                <a:latin typeface="Calibri" pitchFamily="34" charset="0"/>
                <a:ea typeface="Calibri" pitchFamily="34" charset="-122"/>
                <a:cs typeface="Calibri" pitchFamily="34" charset="-120"/>
              </a:rPr>
              <a:t>/topic push to user</a:t>
            </a:r>
            <a:endParaRPr lang="en-US" sz="830" dirty="0"/>
          </a:p>
        </p:txBody>
      </p:sp>
      <p:sp>
        <p:nvSpPr>
          <p:cNvPr id="35" name="Shape 32"/>
          <p:cNvSpPr/>
          <p:nvPr/>
        </p:nvSpPr>
        <p:spPr>
          <a:xfrm>
            <a:off x="548640" y="3657600"/>
            <a:ext cx="8046720" cy="1051560"/>
          </a:xfrm>
          <a:prstGeom prst="roundRect">
            <a:avLst>
              <a:gd name="adj" fmla="val 6957"/>
            </a:avLst>
          </a:prstGeom>
          <a:solidFill>
            <a:srgbClr val="FFFFFF"/>
          </a:solidFill>
          <a:ln w="12700">
            <a:solidFill>
              <a:srgbClr val="E8E0D8"/>
            </a:solidFill>
            <a:prstDash val="solid"/>
          </a:ln>
        </p:spPr>
      </p:sp>
      <p:sp>
        <p:nvSpPr>
          <p:cNvPr id="36" name="Text 33"/>
          <p:cNvSpPr/>
          <p:nvPr/>
        </p:nvSpPr>
        <p:spPr>
          <a:xfrm>
            <a:off x="731520" y="3657600"/>
            <a:ext cx="7680960" cy="1051560"/>
          </a:xfrm>
          <a:prstGeom prst="rect">
            <a:avLst/>
          </a:prstGeom>
          <a:noFill/>
          <a:ln/>
        </p:spPr>
        <p:txBody>
          <a:bodyPr wrap="square" rtlCol="0" anchor="ctr"/>
          <a:lstStyle/>
          <a:p>
            <a:pPr indent="0" marL="0">
              <a:buNone/>
            </a:pPr>
            <a:r>
              <a:rPr lang="en-US" sz="1200" b="1" dirty="0">
                <a:solidFill>
                  <a:srgbClr val="6B1A2B"/>
                </a:solidFill>
                <a:latin typeface="Calibri" pitchFamily="34" charset="0"/>
                <a:ea typeface="Calibri" pitchFamily="34" charset="-122"/>
                <a:cs typeface="Calibri" pitchFamily="34" charset="-120"/>
              </a:rPr>
              <a:t>Every layer participates: </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Client (Axios / Retrofit)  →  Controller  →  Service (business rules)  →  Repository  →  Database, then the response flows back and the Observer pushes a live notification.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566928" cy="566928"/>
          </a:xfrm>
          <a:prstGeom prst="ellipse">
            <a:avLst/>
          </a:prstGeom>
          <a:solidFill>
            <a:srgbClr val="6B1A2B"/>
          </a:solidFill>
          <a:ln/>
          <a:effectLst>
            <a:outerShdw sx="100000" sy="100000" kx="0" ky="0" algn="bl" rotWithShape="0" blurRad="63500" dist="25400" dir="81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690372" y="507492"/>
            <a:ext cx="283464" cy="283464"/>
          </a:xfrm>
          <a:prstGeom prst="rect">
            <a:avLst/>
          </a:prstGeom>
        </p:spPr>
      </p:pic>
      <p:sp>
        <p:nvSpPr>
          <p:cNvPr id="4" name="Text 1"/>
          <p:cNvSpPr/>
          <p:nvPr/>
        </p:nvSpPr>
        <p:spPr>
          <a:xfrm>
            <a:off x="1280160" y="365760"/>
            <a:ext cx="7498080" cy="566928"/>
          </a:xfrm>
          <a:prstGeom prst="rect">
            <a:avLst/>
          </a:prstGeom>
          <a:noFill/>
          <a:ln/>
        </p:spPr>
        <p:txBody>
          <a:bodyPr wrap="square" lIns="0" tIns="0" rIns="0" bIns="0" rtlCol="0" anchor="ctr"/>
          <a:lstStyle/>
          <a:p>
            <a:pPr indent="0" marL="0">
              <a:buNone/>
            </a:pPr>
            <a:r>
              <a:rPr lang="en-US" sz="3000" b="1" dirty="0">
                <a:solidFill>
                  <a:srgbClr val="6B1A2B"/>
                </a:solidFill>
                <a:latin typeface="Georgia" pitchFamily="34" charset="0"/>
                <a:ea typeface="Georgia" pitchFamily="34" charset="-122"/>
                <a:cs typeface="Georgia" pitchFamily="34" charset="-120"/>
              </a:rPr>
              <a:t>Live Demo — Customer Flow</a:t>
            </a:r>
            <a:endParaRPr lang="en-US" sz="3000" dirty="0"/>
          </a:p>
        </p:txBody>
      </p:sp>
      <p:sp>
        <p:nvSpPr>
          <p:cNvPr id="5" name="Text 2"/>
          <p:cNvSpPr/>
          <p:nvPr/>
        </p:nvSpPr>
        <p:spPr>
          <a:xfrm>
            <a:off x="548640" y="1280160"/>
            <a:ext cx="4297680" cy="3291840"/>
          </a:xfrm>
          <a:prstGeom prst="rect">
            <a:avLst/>
          </a:prstGeom>
          <a:noFill/>
          <a:ln/>
        </p:spPr>
        <p:txBody>
          <a:bodyPr wrap="square" rtlCol="0" anchor="ctr"/>
          <a:lstStyle/>
          <a:p>
            <a:pPr marL="342900" indent="-342900">
              <a:spcAft>
                <a:spcPts val="700"/>
              </a:spcAft>
              <a:buSzPct val="100000"/>
              <a:buFont typeface="+mj-lt"/>
              <a:buAutoNum type="arabicPeriod" startAt="1"/>
            </a:pPr>
            <a:r>
              <a:rPr lang="en-US" sz="1450" dirty="0">
                <a:solidFill>
                  <a:srgbClr val="1A1A2E"/>
                </a:solidFill>
                <a:latin typeface="Calibri" pitchFamily="34" charset="0"/>
                <a:ea typeface="Calibri" pitchFamily="34" charset="-122"/>
                <a:cs typeface="Calibri" pitchFamily="34" charset="-120"/>
              </a:rPr>
              <a:t>Login (JWT issued)</a:t>
            </a:r>
            <a:endParaRPr lang="en-US" sz="1450" dirty="0"/>
          </a:p>
          <a:p>
            <a:pPr marL="342900" indent="-342900">
              <a:spcAft>
                <a:spcPts val="700"/>
              </a:spcAft>
              <a:buSzPct val="100000"/>
              <a:buFont typeface="+mj-lt"/>
              <a:buAutoNum type="arabicPeriod" startAt="1"/>
            </a:pPr>
            <a:r>
              <a:rPr lang="en-US" sz="1450" dirty="0">
                <a:solidFill>
                  <a:srgbClr val="1A1A2E"/>
                </a:solidFill>
                <a:latin typeface="Calibri" pitchFamily="34" charset="0"/>
                <a:ea typeface="Calibri" pitchFamily="34" charset="-122"/>
                <a:cs typeface="Calibri" pitchFamily="34" charset="-120"/>
              </a:rPr>
              <a:t>Browse menu: search + category</a:t>
            </a:r>
            <a:endParaRPr lang="en-US" sz="1450" dirty="0"/>
          </a:p>
          <a:p>
            <a:pPr marL="342900" indent="-342900">
              <a:spcAft>
                <a:spcPts val="700"/>
              </a:spcAft>
              <a:buSzPct val="100000"/>
              <a:buFont typeface="+mj-lt"/>
              <a:buAutoNum type="arabicPeriod" startAt="1"/>
            </a:pPr>
            <a:r>
              <a:rPr lang="en-US" sz="1450" dirty="0">
                <a:solidFill>
                  <a:srgbClr val="1A1A2E"/>
                </a:solidFill>
                <a:latin typeface="Calibri" pitchFamily="34" charset="0"/>
                <a:ea typeface="Calibri" pitchFamily="34" charset="-122"/>
                <a:cs typeface="Calibri" pitchFamily="34" charset="-120"/>
              </a:rPr>
              <a:t>Add items to cart</a:t>
            </a:r>
            <a:endParaRPr lang="en-US" sz="1450" dirty="0"/>
          </a:p>
          <a:p>
            <a:pPr marL="342900" indent="-342900">
              <a:spcAft>
                <a:spcPts val="700"/>
              </a:spcAft>
              <a:buSzPct val="100000"/>
              <a:buFont typeface="+mj-lt"/>
              <a:buAutoNum type="arabicPeriod" startAt="1"/>
            </a:pPr>
            <a:r>
              <a:rPr lang="en-US" sz="1450" dirty="0">
                <a:solidFill>
                  <a:srgbClr val="1A1A2E"/>
                </a:solidFill>
                <a:latin typeface="Calibri" pitchFamily="34" charset="0"/>
                <a:ea typeface="Calibri" pitchFamily="34" charset="-122"/>
                <a:cs typeface="Calibri" pitchFamily="34" charset="-120"/>
              </a:rPr>
              <a:t>Checkout: Delivery + GCash → Place Order</a:t>
            </a:r>
            <a:endParaRPr lang="en-US" sz="1450" dirty="0"/>
          </a:p>
          <a:p>
            <a:pPr marL="342900" indent="-342900">
              <a:spcAft>
                <a:spcPts val="700"/>
              </a:spcAft>
              <a:buSzPct val="100000"/>
              <a:buFont typeface="+mj-lt"/>
              <a:buAutoNum type="arabicPeriod" startAt="1"/>
            </a:pPr>
            <a:r>
              <a:rPr lang="en-US" sz="1450" dirty="0">
                <a:solidFill>
                  <a:srgbClr val="1A1A2E"/>
                </a:solidFill>
                <a:latin typeface="Calibri" pitchFamily="34" charset="0"/>
                <a:ea typeface="Calibri" pitchFamily="34" charset="-122"/>
                <a:cs typeface="Calibri" pitchFamily="34" charset="-120"/>
              </a:rPr>
              <a:t>View order in My Orders (status timeline)</a:t>
            </a:r>
            <a:endParaRPr lang="en-US" sz="1450" dirty="0"/>
          </a:p>
          <a:p>
            <a:pPr marL="342900" indent="-342900">
              <a:spcAft>
                <a:spcPts val="700"/>
              </a:spcAft>
              <a:buSzPct val="100000"/>
              <a:buFont typeface="+mj-lt"/>
              <a:buAutoNum type="arabicPeriod" startAt="1"/>
            </a:pPr>
            <a:r>
              <a:rPr lang="en-US" sz="1450" dirty="0">
                <a:solidFill>
                  <a:srgbClr val="1A1A2E"/>
                </a:solidFill>
                <a:latin typeface="Calibri" pitchFamily="34" charset="0"/>
                <a:ea typeface="Calibri" pitchFamily="34" charset="-122"/>
                <a:cs typeface="Calibri" pitchFamily="34" charset="-120"/>
              </a:rPr>
              <a:t>Upload GCash payment proof</a:t>
            </a:r>
            <a:endParaRPr lang="en-US" sz="1450" dirty="0"/>
          </a:p>
          <a:p>
            <a:pPr marL="342900" indent="-342900">
              <a:spcAft>
                <a:spcPts val="700"/>
              </a:spcAft>
              <a:buSzPct val="100000"/>
              <a:buFont typeface="+mj-lt"/>
              <a:buAutoNum type="arabicPeriod" startAt="1"/>
            </a:pPr>
            <a:r>
              <a:rPr lang="en-US" sz="1450" dirty="0">
                <a:solidFill>
                  <a:srgbClr val="1A1A2E"/>
                </a:solidFill>
                <a:latin typeface="Calibri" pitchFamily="34" charset="0"/>
                <a:ea typeface="Calibri" pitchFamily="34" charset="-122"/>
                <a:cs typeface="Calibri" pitchFamily="34" charset="-120"/>
              </a:rPr>
              <a:t>See status update live (notification)</a:t>
            </a:r>
            <a:endParaRPr lang="en-US" sz="1450" dirty="0"/>
          </a:p>
        </p:txBody>
      </p:sp>
      <p:sp>
        <p:nvSpPr>
          <p:cNvPr id="6" name="Shape 3"/>
          <p:cNvSpPr/>
          <p:nvPr/>
        </p:nvSpPr>
        <p:spPr>
          <a:xfrm>
            <a:off x="5074920" y="1280160"/>
            <a:ext cx="3520440" cy="3246120"/>
          </a:xfrm>
          <a:prstGeom prst="roundRect">
            <a:avLst>
              <a:gd name="adj" fmla="val 2254"/>
            </a:avLst>
          </a:prstGeom>
          <a:solidFill>
            <a:srgbClr val="F5E8EB"/>
          </a:solidFill>
          <a:ln w="15875">
            <a:solidFill>
              <a:srgbClr val="A26769"/>
            </a:solidFill>
            <a:prstDash val="dash"/>
          </a:ln>
        </p:spPr>
      </p:sp>
      <p:sp>
        <p:nvSpPr>
          <p:cNvPr id="7" name="Text 4"/>
          <p:cNvSpPr/>
          <p:nvPr/>
        </p:nvSpPr>
        <p:spPr>
          <a:xfrm>
            <a:off x="5212080" y="1280160"/>
            <a:ext cx="3246120" cy="3246120"/>
          </a:xfrm>
          <a:prstGeom prst="rect">
            <a:avLst/>
          </a:prstGeom>
          <a:noFill/>
          <a:ln/>
        </p:spPr>
        <p:txBody>
          <a:bodyPr wrap="square" rtlCol="0" anchor="ctr"/>
          <a:lstStyle/>
          <a:p>
            <a:pPr algn="ctr" indent="0" marL="0">
              <a:buNone/>
            </a:pPr>
            <a:r>
              <a:rPr lang="en-US" sz="1200" b="1" dirty="0">
                <a:solidFill>
                  <a:srgbClr val="6B1A2B"/>
                </a:solidFill>
                <a:latin typeface="Calibri" pitchFamily="34" charset="0"/>
                <a:ea typeface="Calibri" pitchFamily="34" charset="-122"/>
                <a:cs typeface="Calibri" pitchFamily="34" charset="-120"/>
              </a:rPr>
              <a:t>[ SCREENSHOT ]
</a:t>
            </a:r>
            <a:endParaRPr lang="en-US" sz="1200" dirty="0"/>
          </a:p>
          <a:p>
            <a:pPr algn="ctr" indent="0" marL="0">
              <a:buNone/>
            </a:pPr>
            <a:r>
              <a:rPr lang="en-US" sz="1100" dirty="0">
                <a:solidFill>
                  <a:srgbClr val="6B6B6B"/>
                </a:solidFill>
                <a:latin typeface="Calibri" pitchFamily="34" charset="0"/>
                <a:ea typeface="Calibri" pitchFamily="34" charset="-122"/>
                <a:cs typeface="Calibri" pitchFamily="34" charset="-120"/>
              </a:rPr>
              <a:t>Customer side, in order:</a:t>
            </a:r>
            <a:endParaRPr lang="en-US" sz="1200" dirty="0"/>
          </a:p>
          <a:p>
            <a:pPr algn="ctr" indent="0" marL="0">
              <a:buNone/>
            </a:pPr>
            <a:r>
              <a:rPr lang="en-US" sz="1100" dirty="0">
                <a:solidFill>
                  <a:srgbClr val="6B6B6B"/>
                </a:solidFill>
                <a:latin typeface="Calibri" pitchFamily="34" charset="0"/>
                <a:ea typeface="Calibri" pitchFamily="34" charset="-122"/>
                <a:cs typeface="Calibri" pitchFamily="34" charset="-120"/>
              </a:rPr>
              <a:t>1) Menu page  2) Cart  3) Checkout modal</a:t>
            </a:r>
            <a:endParaRPr lang="en-US" sz="1200" dirty="0"/>
          </a:p>
          <a:p>
            <a:pPr algn="ctr" indent="0" marL="0">
              <a:buNone/>
            </a:pPr>
            <a:r>
              <a:rPr lang="en-US" sz="1100" dirty="0">
                <a:solidFill>
                  <a:srgbClr val="6B6B6B"/>
                </a:solidFill>
                <a:latin typeface="Calibri" pitchFamily="34" charset="0"/>
                <a:ea typeface="Calibri" pitchFamily="34" charset="-122"/>
                <a:cs typeface="Calibri" pitchFamily="34" charset="-120"/>
              </a:rPr>
              <a:t>4) My Orders / order detail  5) Payment proof upload</a:t>
            </a:r>
            <a:endParaRPr lang="en-US" sz="1200" dirty="0"/>
          </a:p>
          <a:p>
            <a:pPr algn="ctr" indent="0" marL="0">
              <a:buNone/>
            </a:pPr>
            <a:endParaRPr lang="en-US" sz="1200" dirty="0"/>
          </a:p>
          <a:p>
            <a:pPr algn="ctr" indent="0" marL="0">
              <a:buNone/>
            </a:pPr>
            <a:r>
              <a:rPr lang="en-US" sz="1100" dirty="0">
                <a:solidFill>
                  <a:srgbClr val="6B6B6B"/>
                </a:solidFill>
                <a:latin typeface="Calibri" pitchFamily="34" charset="0"/>
                <a:ea typeface="Calibri" pitchFamily="34" charset="-122"/>
                <a:cs typeface="Calibri" pitchFamily="34" charset="-120"/>
              </a:rPr>
              <a:t>(Drop 1-2 best screenshots here)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566928" cy="566928"/>
          </a:xfrm>
          <a:prstGeom prst="ellipse">
            <a:avLst/>
          </a:prstGeom>
          <a:solidFill>
            <a:srgbClr val="6B1A2B"/>
          </a:solidFill>
          <a:ln/>
          <a:effectLst>
            <a:outerShdw sx="100000" sy="100000" kx="0" ky="0" algn="bl" rotWithShape="0" blurRad="63500" dist="25400" dir="81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690372" y="507492"/>
            <a:ext cx="283464" cy="283464"/>
          </a:xfrm>
          <a:prstGeom prst="rect">
            <a:avLst/>
          </a:prstGeom>
        </p:spPr>
      </p:pic>
      <p:sp>
        <p:nvSpPr>
          <p:cNvPr id="4" name="Text 1"/>
          <p:cNvSpPr/>
          <p:nvPr/>
        </p:nvSpPr>
        <p:spPr>
          <a:xfrm>
            <a:off x="1280160" y="365760"/>
            <a:ext cx="7498080" cy="566928"/>
          </a:xfrm>
          <a:prstGeom prst="rect">
            <a:avLst/>
          </a:prstGeom>
          <a:noFill/>
          <a:ln/>
        </p:spPr>
        <p:txBody>
          <a:bodyPr wrap="square" lIns="0" tIns="0" rIns="0" bIns="0" rtlCol="0" anchor="ctr"/>
          <a:lstStyle/>
          <a:p>
            <a:pPr indent="0" marL="0">
              <a:buNone/>
            </a:pPr>
            <a:r>
              <a:rPr lang="en-US" sz="3000" b="1" dirty="0">
                <a:solidFill>
                  <a:srgbClr val="6B1A2B"/>
                </a:solidFill>
                <a:latin typeface="Georgia" pitchFamily="34" charset="0"/>
                <a:ea typeface="Georgia" pitchFamily="34" charset="-122"/>
                <a:cs typeface="Georgia" pitchFamily="34" charset="-120"/>
              </a:rPr>
              <a:t>Live Demo — Admin Flow</a:t>
            </a:r>
            <a:endParaRPr lang="en-US" sz="3000" dirty="0"/>
          </a:p>
        </p:txBody>
      </p:sp>
      <p:sp>
        <p:nvSpPr>
          <p:cNvPr id="5" name="Text 2"/>
          <p:cNvSpPr/>
          <p:nvPr/>
        </p:nvSpPr>
        <p:spPr>
          <a:xfrm>
            <a:off x="548640" y="1280160"/>
            <a:ext cx="4297680" cy="3291840"/>
          </a:xfrm>
          <a:prstGeom prst="rect">
            <a:avLst/>
          </a:prstGeom>
          <a:noFill/>
          <a:ln/>
        </p:spPr>
        <p:txBody>
          <a:bodyPr wrap="square" rtlCol="0" anchor="ctr"/>
          <a:lstStyle/>
          <a:p>
            <a:pPr marL="342900" indent="-342900">
              <a:spcAft>
                <a:spcPts val="700"/>
              </a:spcAft>
              <a:buSzPct val="100000"/>
              <a:buFont typeface="+mj-lt"/>
              <a:buAutoNum type="arabicPeriod" startAt="1"/>
            </a:pPr>
            <a:r>
              <a:rPr lang="en-US" sz="1450" dirty="0">
                <a:solidFill>
                  <a:srgbClr val="1A1A2E"/>
                </a:solidFill>
                <a:latin typeface="Calibri" pitchFamily="34" charset="0"/>
                <a:ea typeface="Calibri" pitchFamily="34" charset="-122"/>
                <a:cs typeface="Calibri" pitchFamily="34" charset="-120"/>
              </a:rPr>
              <a:t>Login as admin (RBAC enforced)</a:t>
            </a:r>
            <a:endParaRPr lang="en-US" sz="1450" dirty="0"/>
          </a:p>
          <a:p>
            <a:pPr marL="342900" indent="-342900">
              <a:spcAft>
                <a:spcPts val="700"/>
              </a:spcAft>
              <a:buSzPct val="100000"/>
              <a:buFont typeface="+mj-lt"/>
              <a:buAutoNum type="arabicPeriod" startAt="1"/>
            </a:pPr>
            <a:r>
              <a:rPr lang="en-US" sz="1450" dirty="0">
                <a:solidFill>
                  <a:srgbClr val="1A1A2E"/>
                </a:solidFill>
                <a:latin typeface="Calibri" pitchFamily="34" charset="0"/>
                <a:ea typeface="Calibri" pitchFamily="34" charset="-122"/>
                <a:cs typeface="Calibri" pitchFamily="34" charset="-120"/>
              </a:rPr>
              <a:t>Dashboard + all-orders list</a:t>
            </a:r>
            <a:endParaRPr lang="en-US" sz="1450" dirty="0"/>
          </a:p>
          <a:p>
            <a:pPr marL="342900" indent="-342900">
              <a:spcAft>
                <a:spcPts val="700"/>
              </a:spcAft>
              <a:buSzPct val="100000"/>
              <a:buFont typeface="+mj-lt"/>
              <a:buAutoNum type="arabicPeriod" startAt="1"/>
            </a:pPr>
            <a:r>
              <a:rPr lang="en-US" sz="1450" dirty="0">
                <a:solidFill>
                  <a:srgbClr val="1A1A2E"/>
                </a:solidFill>
                <a:latin typeface="Calibri" pitchFamily="34" charset="0"/>
                <a:ea typeface="Calibri" pitchFamily="34" charset="-122"/>
                <a:cs typeface="Calibri" pitchFamily="34" charset="-120"/>
              </a:rPr>
              <a:t>Open the delivery order → quote delivery fee</a:t>
            </a:r>
            <a:endParaRPr lang="en-US" sz="1450" dirty="0"/>
          </a:p>
          <a:p>
            <a:pPr marL="342900" indent="-342900">
              <a:spcAft>
                <a:spcPts val="700"/>
              </a:spcAft>
              <a:buSzPct val="100000"/>
              <a:buFont typeface="+mj-lt"/>
              <a:buAutoNum type="arabicPeriod" startAt="1"/>
            </a:pPr>
            <a:r>
              <a:rPr lang="en-US" sz="1450" dirty="0">
                <a:solidFill>
                  <a:srgbClr val="1A1A2E"/>
                </a:solidFill>
                <a:latin typeface="Calibri" pitchFamily="34" charset="0"/>
                <a:ea typeface="Calibri" pitchFamily="34" charset="-122"/>
                <a:cs typeface="Calibri" pitchFamily="34" charset="-120"/>
              </a:rPr>
              <a:t>Receive 'payment submitted' notification</a:t>
            </a:r>
            <a:endParaRPr lang="en-US" sz="1450" dirty="0"/>
          </a:p>
          <a:p>
            <a:pPr marL="342900" indent="-342900">
              <a:spcAft>
                <a:spcPts val="700"/>
              </a:spcAft>
              <a:buSzPct val="100000"/>
              <a:buFont typeface="+mj-lt"/>
              <a:buAutoNum type="arabicPeriod" startAt="1"/>
            </a:pPr>
            <a:r>
              <a:rPr lang="en-US" sz="1450" dirty="0">
                <a:solidFill>
                  <a:srgbClr val="1A1A2E"/>
                </a:solidFill>
                <a:latin typeface="Calibri" pitchFamily="34" charset="0"/>
                <a:ea typeface="Calibri" pitchFamily="34" charset="-122"/>
                <a:cs typeface="Calibri" pitchFamily="34" charset="-120"/>
              </a:rPr>
              <a:t>View uploaded proof → Confirm Payment</a:t>
            </a:r>
            <a:endParaRPr lang="en-US" sz="1450" dirty="0"/>
          </a:p>
          <a:p>
            <a:pPr marL="342900" indent="-342900">
              <a:spcAft>
                <a:spcPts val="700"/>
              </a:spcAft>
              <a:buSzPct val="100000"/>
              <a:buFont typeface="+mj-lt"/>
              <a:buAutoNum type="arabicPeriod" startAt="1"/>
            </a:pPr>
            <a:r>
              <a:rPr lang="en-US" sz="1450" dirty="0">
                <a:solidFill>
                  <a:srgbClr val="1A1A2E"/>
                </a:solidFill>
                <a:latin typeface="Calibri" pitchFamily="34" charset="0"/>
                <a:ea typeface="Calibri" pitchFamily="34" charset="-122"/>
                <a:cs typeface="Calibri" pitchFamily="34" charset="-120"/>
              </a:rPr>
              <a:t>Advance status: Preparing → Ready/Out for Delivery</a:t>
            </a:r>
            <a:endParaRPr lang="en-US" sz="1450" dirty="0"/>
          </a:p>
          <a:p>
            <a:pPr marL="342900" indent="-342900">
              <a:spcAft>
                <a:spcPts val="700"/>
              </a:spcAft>
              <a:buSzPct val="100000"/>
              <a:buFont typeface="+mj-lt"/>
              <a:buAutoNum type="arabicPeriod" startAt="1"/>
            </a:pPr>
            <a:r>
              <a:rPr lang="en-US" sz="1450" dirty="0">
                <a:solidFill>
                  <a:srgbClr val="1A1A2E"/>
                </a:solidFill>
                <a:latin typeface="Calibri" pitchFamily="34" charset="0"/>
                <a:ea typeface="Calibri" pitchFamily="34" charset="-122"/>
                <a:cs typeface="Calibri" pitchFamily="34" charset="-120"/>
              </a:rPr>
              <a:t>Products CRUD + User ban / unban</a:t>
            </a:r>
            <a:endParaRPr lang="en-US" sz="1450" dirty="0"/>
          </a:p>
        </p:txBody>
      </p:sp>
      <p:sp>
        <p:nvSpPr>
          <p:cNvPr id="6" name="Shape 3"/>
          <p:cNvSpPr/>
          <p:nvPr/>
        </p:nvSpPr>
        <p:spPr>
          <a:xfrm>
            <a:off x="5074920" y="1280160"/>
            <a:ext cx="3520440" cy="3246120"/>
          </a:xfrm>
          <a:prstGeom prst="roundRect">
            <a:avLst>
              <a:gd name="adj" fmla="val 2254"/>
            </a:avLst>
          </a:prstGeom>
          <a:solidFill>
            <a:srgbClr val="F5E8EB"/>
          </a:solidFill>
          <a:ln w="15875">
            <a:solidFill>
              <a:srgbClr val="A26769"/>
            </a:solidFill>
            <a:prstDash val="dash"/>
          </a:ln>
        </p:spPr>
      </p:sp>
      <p:sp>
        <p:nvSpPr>
          <p:cNvPr id="7" name="Text 4"/>
          <p:cNvSpPr/>
          <p:nvPr/>
        </p:nvSpPr>
        <p:spPr>
          <a:xfrm>
            <a:off x="5212080" y="1280160"/>
            <a:ext cx="3246120" cy="3246120"/>
          </a:xfrm>
          <a:prstGeom prst="rect">
            <a:avLst/>
          </a:prstGeom>
          <a:noFill/>
          <a:ln/>
        </p:spPr>
        <p:txBody>
          <a:bodyPr wrap="square" rtlCol="0" anchor="ctr"/>
          <a:lstStyle/>
          <a:p>
            <a:pPr algn="ctr" indent="0" marL="0">
              <a:buNone/>
            </a:pPr>
            <a:r>
              <a:rPr lang="en-US" sz="1200" b="1" dirty="0">
                <a:solidFill>
                  <a:srgbClr val="6B1A2B"/>
                </a:solidFill>
                <a:latin typeface="Calibri" pitchFamily="34" charset="0"/>
                <a:ea typeface="Calibri" pitchFamily="34" charset="-122"/>
                <a:cs typeface="Calibri" pitchFamily="34" charset="-120"/>
              </a:rPr>
              <a:t>[ SCREENSHOT ]
</a:t>
            </a:r>
            <a:endParaRPr lang="en-US" sz="1200" dirty="0"/>
          </a:p>
          <a:p>
            <a:pPr algn="ctr" indent="0" marL="0">
              <a:buNone/>
            </a:pPr>
            <a:r>
              <a:rPr lang="en-US" sz="1100" dirty="0">
                <a:solidFill>
                  <a:srgbClr val="6B6B6B"/>
                </a:solidFill>
                <a:latin typeface="Calibri" pitchFamily="34" charset="0"/>
                <a:ea typeface="Calibri" pitchFamily="34" charset="-122"/>
                <a:cs typeface="Calibri" pitchFamily="34" charset="-120"/>
              </a:rPr>
              <a:t>Admin side, in order:</a:t>
            </a:r>
            <a:endParaRPr lang="en-US" sz="1200" dirty="0"/>
          </a:p>
          <a:p>
            <a:pPr algn="ctr" indent="0" marL="0">
              <a:buNone/>
            </a:pPr>
            <a:r>
              <a:rPr lang="en-US" sz="1100" dirty="0">
                <a:solidFill>
                  <a:srgbClr val="6B6B6B"/>
                </a:solidFill>
                <a:latin typeface="Calibri" pitchFamily="34" charset="0"/>
                <a:ea typeface="Calibri" pitchFamily="34" charset="-122"/>
                <a:cs typeface="Calibri" pitchFamily="34" charset="-120"/>
              </a:rPr>
              <a:t>1) Admin orders list  2) Order detail w/ proof image</a:t>
            </a:r>
            <a:endParaRPr lang="en-US" sz="1200" dirty="0"/>
          </a:p>
          <a:p>
            <a:pPr algn="ctr" indent="0" marL="0">
              <a:buNone/>
            </a:pPr>
            <a:r>
              <a:rPr lang="en-US" sz="1100" dirty="0">
                <a:solidFill>
                  <a:srgbClr val="6B6B6B"/>
                </a:solidFill>
                <a:latin typeface="Calibri" pitchFamily="34" charset="0"/>
                <a:ea typeface="Calibri" pitchFamily="34" charset="-122"/>
                <a:cs typeface="Calibri" pitchFamily="34" charset="-120"/>
              </a:rPr>
              <a:t>3) Quote-fee + status controls</a:t>
            </a:r>
            <a:endParaRPr lang="en-US" sz="1200" dirty="0"/>
          </a:p>
          <a:p>
            <a:pPr algn="ctr" indent="0" marL="0">
              <a:buNone/>
            </a:pPr>
            <a:r>
              <a:rPr lang="en-US" sz="1100" dirty="0">
                <a:solidFill>
                  <a:srgbClr val="6B6B6B"/>
                </a:solidFill>
                <a:latin typeface="Calibri" pitchFamily="34" charset="0"/>
                <a:ea typeface="Calibri" pitchFamily="34" charset="-122"/>
                <a:cs typeface="Calibri" pitchFamily="34" charset="-120"/>
              </a:rPr>
              <a:t>4) Products manager  5) Users list</a:t>
            </a:r>
            <a:endParaRPr lang="en-US" sz="1200" dirty="0"/>
          </a:p>
          <a:p>
            <a:pPr algn="ctr" indent="0" marL="0">
              <a:buNone/>
            </a:pPr>
            <a:endParaRPr lang="en-US" sz="1200" dirty="0"/>
          </a:p>
          <a:p>
            <a:pPr algn="ctr" indent="0" marL="0">
              <a:buNone/>
            </a:pPr>
            <a:r>
              <a:rPr lang="en-US" sz="1100" dirty="0">
                <a:solidFill>
                  <a:srgbClr val="6B6B6B"/>
                </a:solidFill>
                <a:latin typeface="Calibri" pitchFamily="34" charset="0"/>
                <a:ea typeface="Calibri" pitchFamily="34" charset="-122"/>
                <a:cs typeface="Calibri" pitchFamily="34" charset="-120"/>
              </a:rPr>
              <a:t>(Drop 1-2 best screenshots here)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566928" cy="566928"/>
          </a:xfrm>
          <a:prstGeom prst="ellipse">
            <a:avLst/>
          </a:prstGeom>
          <a:solidFill>
            <a:srgbClr val="6B1A2B"/>
          </a:solidFill>
          <a:ln/>
          <a:effectLst>
            <a:outerShdw sx="100000" sy="100000" kx="0" ky="0" algn="bl" rotWithShape="0" blurRad="63500" dist="25400" dir="81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690372" y="507492"/>
            <a:ext cx="283464" cy="283464"/>
          </a:xfrm>
          <a:prstGeom prst="rect">
            <a:avLst/>
          </a:prstGeom>
        </p:spPr>
      </p:pic>
      <p:sp>
        <p:nvSpPr>
          <p:cNvPr id="4" name="Text 1"/>
          <p:cNvSpPr/>
          <p:nvPr/>
        </p:nvSpPr>
        <p:spPr>
          <a:xfrm>
            <a:off x="1280160" y="365760"/>
            <a:ext cx="7498080" cy="566928"/>
          </a:xfrm>
          <a:prstGeom prst="rect">
            <a:avLst/>
          </a:prstGeom>
          <a:noFill/>
          <a:ln/>
        </p:spPr>
        <p:txBody>
          <a:bodyPr wrap="square" lIns="0" tIns="0" rIns="0" bIns="0" rtlCol="0" anchor="ctr"/>
          <a:lstStyle/>
          <a:p>
            <a:pPr indent="0" marL="0">
              <a:buNone/>
            </a:pPr>
            <a:r>
              <a:rPr lang="en-US" sz="3000" b="1" dirty="0">
                <a:solidFill>
                  <a:srgbClr val="6B1A2B"/>
                </a:solidFill>
                <a:latin typeface="Georgia" pitchFamily="34" charset="0"/>
                <a:ea typeface="Georgia" pitchFamily="34" charset="-122"/>
                <a:cs typeface="Georgia" pitchFamily="34" charset="-120"/>
              </a:rPr>
              <a:t>Proof of Implementation</a:t>
            </a:r>
            <a:endParaRPr lang="en-US" sz="3000" dirty="0"/>
          </a:p>
        </p:txBody>
      </p:sp>
      <p:sp>
        <p:nvSpPr>
          <p:cNvPr id="5" name="Text 2"/>
          <p:cNvSpPr/>
          <p:nvPr/>
        </p:nvSpPr>
        <p:spPr>
          <a:xfrm>
            <a:off x="548640" y="1234440"/>
            <a:ext cx="4389120" cy="3383280"/>
          </a:xfrm>
          <a:prstGeom prst="rect">
            <a:avLst/>
          </a:prstGeom>
          <a:noFill/>
          <a:ln/>
        </p:spPr>
        <p:txBody>
          <a:bodyPr wrap="square" rtlCol="0" anchor="ctr"/>
          <a:lstStyle/>
          <a:p>
            <a:pPr indent="0" marL="0">
              <a:spcAft>
                <a:spcPts val="200"/>
              </a:spcAft>
              <a:buNone/>
            </a:pPr>
            <a:r>
              <a:rPr lang="en-US" sz="1300" b="1" dirty="0">
                <a:solidFill>
                  <a:srgbClr val="6B1A2B"/>
                </a:solidFill>
                <a:latin typeface="Calibri" pitchFamily="34" charset="0"/>
                <a:ea typeface="Calibri" pitchFamily="34" charset="-122"/>
                <a:cs typeface="Calibri" pitchFamily="34" charset="-120"/>
              </a:rPr>
              <a:t>Backend (layered)
</a:t>
            </a:r>
            <a:endParaRPr lang="en-US" sz="1300" dirty="0"/>
          </a:p>
          <a:p>
            <a:pPr indent="0" marL="0">
              <a:spcAft>
                <a:spcPts val="800"/>
              </a:spcAft>
              <a:buNone/>
            </a:pPr>
            <a:r>
              <a:rPr lang="en-US" sz="1100" dirty="0">
                <a:solidFill>
                  <a:srgbClr val="1A1A2E"/>
                </a:solidFill>
                <a:latin typeface="Calibri" pitchFamily="34" charset="0"/>
                <a:ea typeface="Calibri" pitchFamily="34" charset="-122"/>
                <a:cs typeface="Calibri" pitchFamily="34" charset="-120"/>
              </a:rPr>
              <a:t>OrderController → OrderService → OrderRepository → Order entity</a:t>
            </a:r>
            <a:endParaRPr lang="en-US" sz="1300" dirty="0"/>
          </a:p>
          <a:p>
            <a:pPr indent="0" marL="0">
              <a:spcAft>
                <a:spcPts val="200"/>
              </a:spcAft>
              <a:buNone/>
            </a:pPr>
            <a:r>
              <a:rPr lang="en-US" sz="1300" b="1" dirty="0">
                <a:solidFill>
                  <a:srgbClr val="6B1A2B"/>
                </a:solidFill>
                <a:latin typeface="Calibri" pitchFamily="34" charset="0"/>
                <a:ea typeface="Calibri" pitchFamily="34" charset="-122"/>
                <a:cs typeface="Calibri" pitchFamily="34" charset="-120"/>
              </a:rPr>
              <a:t>Security &amp; Realtime
</a:t>
            </a:r>
            <a:endParaRPr lang="en-US" sz="1300" dirty="0"/>
          </a:p>
          <a:p>
            <a:pPr indent="0" marL="0">
              <a:spcAft>
                <a:spcPts val="800"/>
              </a:spcAft>
              <a:buNone/>
            </a:pPr>
            <a:r>
              <a:rPr lang="en-US" sz="1100" dirty="0">
                <a:solidFill>
                  <a:srgbClr val="1A1A2E"/>
                </a:solidFill>
                <a:latin typeface="Calibri" pitchFamily="34" charset="0"/>
                <a:ea typeface="Calibri" pitchFamily="34" charset="-122"/>
                <a:cs typeface="Calibri" pitchFamily="34" charset="-120"/>
              </a:rPr>
              <a:t>SecurityConfig (JWT/RBAC) • WebSocketNotificationObserver</a:t>
            </a:r>
            <a:endParaRPr lang="en-US" sz="1300" dirty="0"/>
          </a:p>
          <a:p>
            <a:pPr indent="0" marL="0">
              <a:spcAft>
                <a:spcPts val="200"/>
              </a:spcAft>
              <a:buNone/>
            </a:pPr>
            <a:r>
              <a:rPr lang="en-US" sz="1300" b="1" dirty="0">
                <a:solidFill>
                  <a:srgbClr val="6B1A2B"/>
                </a:solidFill>
                <a:latin typeface="Calibri" pitchFamily="34" charset="0"/>
                <a:ea typeface="Calibri" pitchFamily="34" charset="-122"/>
                <a:cs typeface="Calibri" pitchFamily="34" charset="-120"/>
              </a:rPr>
              <a:t>Mobile (MVVM)
</a:t>
            </a:r>
            <a:endParaRPr lang="en-US" sz="1300" dirty="0"/>
          </a:p>
          <a:p>
            <a:pPr indent="0" marL="0">
              <a:spcAft>
                <a:spcPts val="800"/>
              </a:spcAft>
              <a:buNone/>
            </a:pPr>
            <a:r>
              <a:rPr lang="en-US" sz="1100" dirty="0">
                <a:solidFill>
                  <a:srgbClr val="1A1A2E"/>
                </a:solidFill>
                <a:latin typeface="Calibri" pitchFamily="34" charset="0"/>
                <a:ea typeface="Calibri" pitchFamily="34" charset="-122"/>
                <a:cs typeface="Calibri" pitchFamily="34" charset="-120"/>
              </a:rPr>
              <a:t>ApiService.kt • Repository • ViewModel • Activity/Fragment</a:t>
            </a:r>
            <a:endParaRPr lang="en-US" sz="1300" dirty="0"/>
          </a:p>
          <a:p>
            <a:pPr indent="0" marL="0">
              <a:spcAft>
                <a:spcPts val="200"/>
              </a:spcAft>
              <a:buNone/>
            </a:pPr>
            <a:r>
              <a:rPr lang="en-US" sz="1300" b="1" dirty="0">
                <a:solidFill>
                  <a:srgbClr val="6B1A2B"/>
                </a:solidFill>
                <a:latin typeface="Calibri" pitchFamily="34" charset="0"/>
                <a:ea typeface="Calibri" pitchFamily="34" charset="-122"/>
                <a:cs typeface="Calibri" pitchFamily="34" charset="-120"/>
              </a:rPr>
              <a:t>API &amp; Database
</a:t>
            </a:r>
            <a:endParaRPr lang="en-US" sz="1300" dirty="0"/>
          </a:p>
          <a:p>
            <a:pPr indent="0" marL="0">
              <a:buNone/>
            </a:pPr>
            <a:r>
              <a:rPr lang="en-US" sz="1100" dirty="0">
                <a:solidFill>
                  <a:srgbClr val="1A1A2E"/>
                </a:solidFill>
                <a:latin typeface="Calibri" pitchFamily="34" charset="0"/>
                <a:ea typeface="Calibri" pitchFamily="34" charset="-122"/>
                <a:cs typeface="Calibri" pitchFamily="34" charset="-120"/>
              </a:rPr>
              <a:t>Postman calls + Supabase tables (orders, notifications, users)</a:t>
            </a:r>
            <a:endParaRPr lang="en-US" sz="1300" dirty="0"/>
          </a:p>
        </p:txBody>
      </p:sp>
      <p:sp>
        <p:nvSpPr>
          <p:cNvPr id="6" name="Shape 3"/>
          <p:cNvSpPr/>
          <p:nvPr/>
        </p:nvSpPr>
        <p:spPr>
          <a:xfrm>
            <a:off x="5074920" y="1234440"/>
            <a:ext cx="3520440" cy="3291840"/>
          </a:xfrm>
          <a:prstGeom prst="roundRect">
            <a:avLst>
              <a:gd name="adj" fmla="val 2222"/>
            </a:avLst>
          </a:prstGeom>
          <a:solidFill>
            <a:srgbClr val="F5E8EB"/>
          </a:solidFill>
          <a:ln w="15875">
            <a:solidFill>
              <a:srgbClr val="A26769"/>
            </a:solidFill>
            <a:prstDash val="dash"/>
          </a:ln>
        </p:spPr>
      </p:sp>
      <p:sp>
        <p:nvSpPr>
          <p:cNvPr id="7" name="Text 4"/>
          <p:cNvSpPr/>
          <p:nvPr/>
        </p:nvSpPr>
        <p:spPr>
          <a:xfrm>
            <a:off x="5212080" y="1234440"/>
            <a:ext cx="3246120" cy="3291840"/>
          </a:xfrm>
          <a:prstGeom prst="rect">
            <a:avLst/>
          </a:prstGeom>
          <a:noFill/>
          <a:ln/>
        </p:spPr>
        <p:txBody>
          <a:bodyPr wrap="square" rtlCol="0" anchor="ctr"/>
          <a:lstStyle/>
          <a:p>
            <a:pPr algn="ctr" indent="0" marL="0">
              <a:buNone/>
            </a:pPr>
            <a:r>
              <a:rPr lang="en-US" sz="1200" b="1" dirty="0">
                <a:solidFill>
                  <a:srgbClr val="6B1A2B"/>
                </a:solidFill>
                <a:latin typeface="Calibri" pitchFamily="34" charset="0"/>
                <a:ea typeface="Calibri" pitchFamily="34" charset="-122"/>
                <a:cs typeface="Calibri" pitchFamily="34" charset="-120"/>
              </a:rPr>
              <a:t>[ SCREENSHOT ]
</a:t>
            </a:r>
            <a:endParaRPr lang="en-US" sz="1200" dirty="0"/>
          </a:p>
          <a:p>
            <a:pPr algn="ctr" indent="0" marL="0">
              <a:buNone/>
            </a:pPr>
            <a:r>
              <a:rPr lang="en-US" sz="1100" dirty="0">
                <a:solidFill>
                  <a:srgbClr val="6B6B6B"/>
                </a:solidFill>
                <a:latin typeface="Calibri" pitchFamily="34" charset="0"/>
                <a:ea typeface="Calibri" pitchFamily="34" charset="-122"/>
                <a:cs typeface="Calibri" pitchFamily="34" charset="-120"/>
              </a:rPr>
              <a:t>Show real evidence:</a:t>
            </a:r>
            <a:endParaRPr lang="en-US" sz="1200" dirty="0"/>
          </a:p>
          <a:p>
            <a:pPr algn="ctr" indent="0" marL="0">
              <a:buNone/>
            </a:pPr>
            <a:r>
              <a:rPr lang="en-US" sz="1100" dirty="0">
                <a:solidFill>
                  <a:srgbClr val="6B6B6B"/>
                </a:solidFill>
                <a:latin typeface="Calibri" pitchFamily="34" charset="0"/>
                <a:ea typeface="Calibri" pitchFamily="34" charset="-122"/>
                <a:cs typeface="Calibri" pitchFamily="34" charset="-120"/>
              </a:rPr>
              <a:t>• Code file (e.g. OrderService.java / ApiService.kt)</a:t>
            </a:r>
            <a:endParaRPr lang="en-US" sz="1200" dirty="0"/>
          </a:p>
          <a:p>
            <a:pPr algn="ctr" indent="0" marL="0">
              <a:buNone/>
            </a:pPr>
            <a:r>
              <a:rPr lang="en-US" sz="1100" dirty="0">
                <a:solidFill>
                  <a:srgbClr val="6B6B6B"/>
                </a:solidFill>
                <a:latin typeface="Calibri" pitchFamily="34" charset="0"/>
                <a:ea typeface="Calibri" pitchFamily="34" charset="-122"/>
                <a:cs typeface="Calibri" pitchFamily="34" charset="-120"/>
              </a:rPr>
              <a:t>• Postman 200 response</a:t>
            </a:r>
            <a:endParaRPr lang="en-US" sz="1200" dirty="0"/>
          </a:p>
          <a:p>
            <a:pPr algn="ctr" indent="0" marL="0">
              <a:buNone/>
            </a:pPr>
            <a:r>
              <a:rPr lang="en-US" sz="1100" dirty="0">
                <a:solidFill>
                  <a:srgbClr val="6B6B6B"/>
                </a:solidFill>
                <a:latin typeface="Calibri" pitchFamily="34" charset="0"/>
                <a:ea typeface="Calibri" pitchFamily="34" charset="-122"/>
                <a:cs typeface="Calibri" pitchFamily="34" charset="-120"/>
              </a:rPr>
              <a:t>• Postman 403 when customer hits /api/admin/**</a:t>
            </a:r>
            <a:endParaRPr lang="en-US" sz="1200" dirty="0"/>
          </a:p>
          <a:p>
            <a:pPr algn="ctr" indent="0" marL="0">
              <a:buNone/>
            </a:pPr>
            <a:r>
              <a:rPr lang="en-US" sz="1100" dirty="0">
                <a:solidFill>
                  <a:srgbClr val="6B6B6B"/>
                </a:solidFill>
                <a:latin typeface="Calibri" pitchFamily="34" charset="0"/>
                <a:ea typeface="Calibri" pitchFamily="34" charset="-122"/>
                <a:cs typeface="Calibri" pitchFamily="34" charset="-120"/>
              </a:rPr>
              <a:t>• Supabase table rows</a:t>
            </a:r>
            <a:endParaRPr lang="en-US" sz="1200" dirty="0"/>
          </a:p>
          <a:p>
            <a:pPr algn="ctr" indent="0" marL="0">
              <a:buNone/>
            </a:pPr>
            <a:endParaRPr lang="en-US" sz="1200" dirty="0"/>
          </a:p>
          <a:p>
            <a:pPr algn="ctr" indent="0" marL="0">
              <a:buNone/>
            </a:pPr>
            <a:r>
              <a:rPr lang="en-US" sz="1100" dirty="0">
                <a:solidFill>
                  <a:srgbClr val="6B6B6B"/>
                </a:solidFill>
                <a:latin typeface="Calibri" pitchFamily="34" charset="0"/>
                <a:ea typeface="Calibri" pitchFamily="34" charset="-122"/>
                <a:cs typeface="Calibri" pitchFamily="34" charset="-120"/>
              </a:rPr>
              <a:t>(Drop 1-2 screenshots here)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566928" cy="566928"/>
          </a:xfrm>
          <a:prstGeom prst="ellipse">
            <a:avLst/>
          </a:prstGeom>
          <a:solidFill>
            <a:srgbClr val="6B1A2B"/>
          </a:solidFill>
          <a:ln/>
          <a:effectLst>
            <a:outerShdw sx="100000" sy="100000" kx="0" ky="0" algn="bl" rotWithShape="0" blurRad="63500" dist="25400" dir="81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690372" y="507492"/>
            <a:ext cx="283464" cy="283464"/>
          </a:xfrm>
          <a:prstGeom prst="rect">
            <a:avLst/>
          </a:prstGeom>
        </p:spPr>
      </p:pic>
      <p:sp>
        <p:nvSpPr>
          <p:cNvPr id="4" name="Text 1"/>
          <p:cNvSpPr/>
          <p:nvPr/>
        </p:nvSpPr>
        <p:spPr>
          <a:xfrm>
            <a:off x="1280160" y="365760"/>
            <a:ext cx="7498080" cy="566928"/>
          </a:xfrm>
          <a:prstGeom prst="rect">
            <a:avLst/>
          </a:prstGeom>
          <a:noFill/>
          <a:ln/>
        </p:spPr>
        <p:txBody>
          <a:bodyPr wrap="square" lIns="0" tIns="0" rIns="0" bIns="0" rtlCol="0" anchor="ctr"/>
          <a:lstStyle/>
          <a:p>
            <a:pPr indent="0" marL="0">
              <a:buNone/>
            </a:pPr>
            <a:r>
              <a:rPr lang="en-US" sz="3000" b="1" dirty="0">
                <a:solidFill>
                  <a:srgbClr val="6B1A2B"/>
                </a:solidFill>
                <a:latin typeface="Georgia" pitchFamily="34" charset="0"/>
                <a:ea typeface="Georgia" pitchFamily="34" charset="-122"/>
                <a:cs typeface="Georgia" pitchFamily="34" charset="-120"/>
              </a:rPr>
              <a:t>Testing &amp; Verification</a:t>
            </a:r>
            <a:endParaRPr lang="en-US" sz="3000" dirty="0"/>
          </a:p>
        </p:txBody>
      </p:sp>
      <p:sp>
        <p:nvSpPr>
          <p:cNvPr id="5" name="Shape 2"/>
          <p:cNvSpPr/>
          <p:nvPr/>
        </p:nvSpPr>
        <p:spPr>
          <a:xfrm>
            <a:off x="548640" y="1280160"/>
            <a:ext cx="2560320" cy="1325880"/>
          </a:xfrm>
          <a:prstGeom prst="roundRect">
            <a:avLst>
              <a:gd name="adj" fmla="val 6897"/>
            </a:avLst>
          </a:prstGeom>
          <a:solidFill>
            <a:srgbClr val="F5E8EB"/>
          </a:solidFill>
          <a:ln/>
          <a:effectLst>
            <a:outerShdw sx="100000" sy="100000" kx="0" ky="0" algn="bl" rotWithShape="0" blurRad="63500" dist="25400" dir="8100000">
              <a:srgbClr val="000000">
                <a:alpha val="12000"/>
              </a:srgbClr>
            </a:outerShdw>
          </a:effectLst>
        </p:spPr>
      </p:sp>
      <p:sp>
        <p:nvSpPr>
          <p:cNvPr id="6" name="Text 3"/>
          <p:cNvSpPr/>
          <p:nvPr/>
        </p:nvSpPr>
        <p:spPr>
          <a:xfrm>
            <a:off x="548640" y="1463040"/>
            <a:ext cx="2560320" cy="548640"/>
          </a:xfrm>
          <a:prstGeom prst="rect">
            <a:avLst/>
          </a:prstGeom>
          <a:noFill/>
          <a:ln/>
        </p:spPr>
        <p:txBody>
          <a:bodyPr wrap="square" rtlCol="0" anchor="ctr"/>
          <a:lstStyle/>
          <a:p>
            <a:pPr algn="ctr" indent="0" marL="0">
              <a:buNone/>
            </a:pPr>
            <a:r>
              <a:rPr lang="en-US" sz="2300" b="1" dirty="0">
                <a:solidFill>
                  <a:srgbClr val="6B1A2B"/>
                </a:solidFill>
                <a:latin typeface="Georgia" pitchFamily="34" charset="0"/>
                <a:ea typeface="Georgia" pitchFamily="34" charset="-122"/>
                <a:cs typeface="Georgia" pitchFamily="34" charset="-120"/>
              </a:rPr>
              <a:t>BUILD OK</a:t>
            </a:r>
            <a:endParaRPr lang="en-US" sz="2300" dirty="0"/>
          </a:p>
        </p:txBody>
      </p:sp>
      <p:sp>
        <p:nvSpPr>
          <p:cNvPr id="7" name="Text 4"/>
          <p:cNvSpPr/>
          <p:nvPr/>
        </p:nvSpPr>
        <p:spPr>
          <a:xfrm>
            <a:off x="685800" y="2011680"/>
            <a:ext cx="2286000" cy="502920"/>
          </a:xfrm>
          <a:prstGeom prst="rect">
            <a:avLst/>
          </a:prstGeom>
          <a:noFill/>
          <a:ln/>
        </p:spPr>
        <p:txBody>
          <a:bodyPr wrap="square" rtlCol="0" anchor="ctr"/>
          <a:lstStyle/>
          <a:p>
            <a:pPr algn="ctr" indent="0" marL="0">
              <a:buNone/>
            </a:pPr>
            <a:r>
              <a:rPr lang="en-US" sz="1100" dirty="0">
                <a:solidFill>
                  <a:srgbClr val="1A1A2E"/>
                </a:solidFill>
                <a:latin typeface="Calibri" pitchFamily="34" charset="0"/>
                <a:ea typeface="Calibri" pitchFamily="34" charset="-122"/>
                <a:cs typeface="Calibri" pitchFamily="34" charset="-120"/>
              </a:rPr>
              <a:t>Web: Vite build successful</a:t>
            </a:r>
            <a:endParaRPr lang="en-US" sz="1100" dirty="0"/>
          </a:p>
        </p:txBody>
      </p:sp>
      <p:sp>
        <p:nvSpPr>
          <p:cNvPr id="8" name="Shape 5"/>
          <p:cNvSpPr/>
          <p:nvPr/>
        </p:nvSpPr>
        <p:spPr>
          <a:xfrm>
            <a:off x="3337560" y="1280160"/>
            <a:ext cx="2560320" cy="1325880"/>
          </a:xfrm>
          <a:prstGeom prst="roundRect">
            <a:avLst>
              <a:gd name="adj" fmla="val 6897"/>
            </a:avLst>
          </a:prstGeom>
          <a:solidFill>
            <a:srgbClr val="F5E8EB"/>
          </a:solidFill>
          <a:ln/>
          <a:effectLst>
            <a:outerShdw sx="100000" sy="100000" kx="0" ky="0" algn="bl" rotWithShape="0" blurRad="63500" dist="25400" dir="8100000">
              <a:srgbClr val="000000">
                <a:alpha val="12000"/>
              </a:srgbClr>
            </a:outerShdw>
          </a:effectLst>
        </p:spPr>
      </p:sp>
      <p:sp>
        <p:nvSpPr>
          <p:cNvPr id="9" name="Text 6"/>
          <p:cNvSpPr/>
          <p:nvPr/>
        </p:nvSpPr>
        <p:spPr>
          <a:xfrm>
            <a:off x="3337560" y="1463040"/>
            <a:ext cx="2560320" cy="548640"/>
          </a:xfrm>
          <a:prstGeom prst="rect">
            <a:avLst/>
          </a:prstGeom>
          <a:noFill/>
          <a:ln/>
        </p:spPr>
        <p:txBody>
          <a:bodyPr wrap="square" rtlCol="0" anchor="ctr"/>
          <a:lstStyle/>
          <a:p>
            <a:pPr algn="ctr" indent="0" marL="0">
              <a:buNone/>
            </a:pPr>
            <a:r>
              <a:rPr lang="en-US" sz="2300" b="1" dirty="0">
                <a:solidFill>
                  <a:srgbClr val="6B1A2B"/>
                </a:solidFill>
                <a:latin typeface="Georgia" pitchFamily="34" charset="0"/>
                <a:ea typeface="Georgia" pitchFamily="34" charset="-122"/>
                <a:cs typeface="Georgia" pitchFamily="34" charset="-120"/>
              </a:rPr>
              <a:t>BUILD OK</a:t>
            </a:r>
            <a:endParaRPr lang="en-US" sz="2300" dirty="0"/>
          </a:p>
        </p:txBody>
      </p:sp>
      <p:sp>
        <p:nvSpPr>
          <p:cNvPr id="10" name="Text 7"/>
          <p:cNvSpPr/>
          <p:nvPr/>
        </p:nvSpPr>
        <p:spPr>
          <a:xfrm>
            <a:off x="3474720" y="2011680"/>
            <a:ext cx="2286000" cy="502920"/>
          </a:xfrm>
          <a:prstGeom prst="rect">
            <a:avLst/>
          </a:prstGeom>
          <a:noFill/>
          <a:ln/>
        </p:spPr>
        <p:txBody>
          <a:bodyPr wrap="square" rtlCol="0" anchor="ctr"/>
          <a:lstStyle/>
          <a:p>
            <a:pPr algn="ctr" indent="0" marL="0">
              <a:buNone/>
            </a:pPr>
            <a:r>
              <a:rPr lang="en-US" sz="1100" dirty="0">
                <a:solidFill>
                  <a:srgbClr val="1A1A2E"/>
                </a:solidFill>
                <a:latin typeface="Calibri" pitchFamily="34" charset="0"/>
                <a:ea typeface="Calibri" pitchFamily="34" charset="-122"/>
                <a:cs typeface="Calibri" pitchFamily="34" charset="-120"/>
              </a:rPr>
              <a:t>Mobile: assembleDebug successful</a:t>
            </a:r>
            <a:endParaRPr lang="en-US" sz="1100" dirty="0"/>
          </a:p>
        </p:txBody>
      </p:sp>
      <p:sp>
        <p:nvSpPr>
          <p:cNvPr id="11" name="Shape 8"/>
          <p:cNvSpPr/>
          <p:nvPr/>
        </p:nvSpPr>
        <p:spPr>
          <a:xfrm>
            <a:off x="6126480" y="1280160"/>
            <a:ext cx="2560320" cy="1325880"/>
          </a:xfrm>
          <a:prstGeom prst="roundRect">
            <a:avLst>
              <a:gd name="adj" fmla="val 6897"/>
            </a:avLst>
          </a:prstGeom>
          <a:solidFill>
            <a:srgbClr val="F5E8EB"/>
          </a:solidFill>
          <a:ln/>
          <a:effectLst>
            <a:outerShdw sx="100000" sy="100000" kx="0" ky="0" algn="bl" rotWithShape="0" blurRad="63500" dist="25400" dir="8100000">
              <a:srgbClr val="000000">
                <a:alpha val="12000"/>
              </a:srgbClr>
            </a:outerShdw>
          </a:effectLst>
        </p:spPr>
      </p:sp>
      <p:sp>
        <p:nvSpPr>
          <p:cNvPr id="12" name="Text 9"/>
          <p:cNvSpPr/>
          <p:nvPr/>
        </p:nvSpPr>
        <p:spPr>
          <a:xfrm>
            <a:off x="6126480" y="1463040"/>
            <a:ext cx="2560320" cy="548640"/>
          </a:xfrm>
          <a:prstGeom prst="rect">
            <a:avLst/>
          </a:prstGeom>
          <a:noFill/>
          <a:ln/>
        </p:spPr>
        <p:txBody>
          <a:bodyPr wrap="square" rtlCol="0" anchor="ctr"/>
          <a:lstStyle/>
          <a:p>
            <a:pPr algn="ctr" indent="0" marL="0">
              <a:buNone/>
            </a:pPr>
            <a:r>
              <a:rPr lang="en-US" sz="2300" b="1" dirty="0">
                <a:solidFill>
                  <a:srgbClr val="6B1A2B"/>
                </a:solidFill>
                <a:latin typeface="Georgia" pitchFamily="34" charset="0"/>
                <a:ea typeface="Georgia" pitchFamily="34" charset="-122"/>
                <a:cs typeface="Georgia" pitchFamily="34" charset="-120"/>
              </a:rPr>
              <a:t>CONNECTED</a:t>
            </a:r>
            <a:endParaRPr lang="en-US" sz="2300" dirty="0"/>
          </a:p>
        </p:txBody>
      </p:sp>
      <p:sp>
        <p:nvSpPr>
          <p:cNvPr id="13" name="Text 10"/>
          <p:cNvSpPr/>
          <p:nvPr/>
        </p:nvSpPr>
        <p:spPr>
          <a:xfrm>
            <a:off x="6263640" y="2011680"/>
            <a:ext cx="2286000" cy="502920"/>
          </a:xfrm>
          <a:prstGeom prst="rect">
            <a:avLst/>
          </a:prstGeom>
          <a:noFill/>
          <a:ln/>
        </p:spPr>
        <p:txBody>
          <a:bodyPr wrap="square" rtlCol="0" anchor="ctr"/>
          <a:lstStyle/>
          <a:p>
            <a:pPr algn="ctr" indent="0" marL="0">
              <a:buNone/>
            </a:pPr>
            <a:r>
              <a:rPr lang="en-US" sz="1100" dirty="0">
                <a:solidFill>
                  <a:srgbClr val="1A1A2E"/>
                </a:solidFill>
                <a:latin typeface="Calibri" pitchFamily="34" charset="0"/>
                <a:ea typeface="Calibri" pitchFamily="34" charset="-122"/>
                <a:cs typeface="Calibri" pitchFamily="34" charset="-120"/>
              </a:rPr>
              <a:t>Backend ↔ Supabase verified</a:t>
            </a:r>
            <a:endParaRPr lang="en-US" sz="1100" dirty="0"/>
          </a:p>
        </p:txBody>
      </p:sp>
      <p:sp>
        <p:nvSpPr>
          <p:cNvPr id="14" name="Text 11"/>
          <p:cNvSpPr/>
          <p:nvPr/>
        </p:nvSpPr>
        <p:spPr>
          <a:xfrm>
            <a:off x="548640" y="2834640"/>
            <a:ext cx="8229600" cy="320040"/>
          </a:xfrm>
          <a:prstGeom prst="rect">
            <a:avLst/>
          </a:prstGeom>
          <a:noFill/>
          <a:ln/>
        </p:spPr>
        <p:txBody>
          <a:bodyPr wrap="square" rtlCol="0" anchor="ctr"/>
          <a:lstStyle/>
          <a:p>
            <a:pPr indent="0" marL="0">
              <a:buNone/>
            </a:pPr>
            <a:r>
              <a:rPr lang="en-US" sz="1400" b="1" dirty="0">
                <a:solidFill>
                  <a:srgbClr val="6B1A2B"/>
                </a:solidFill>
                <a:latin typeface="Georgia" pitchFamily="34" charset="0"/>
                <a:ea typeface="Georgia" pitchFamily="34" charset="-122"/>
                <a:cs typeface="Georgia" pitchFamily="34" charset="-120"/>
              </a:rPr>
              <a:t>Verified through:</a:t>
            </a:r>
            <a:endParaRPr lang="en-US" sz="1400" dirty="0"/>
          </a:p>
        </p:txBody>
      </p:sp>
      <p:sp>
        <p:nvSpPr>
          <p:cNvPr id="15" name="Text 12"/>
          <p:cNvSpPr/>
          <p:nvPr/>
        </p:nvSpPr>
        <p:spPr>
          <a:xfrm>
            <a:off x="640080" y="3200400"/>
            <a:ext cx="7955280" cy="1463040"/>
          </a:xfrm>
          <a:prstGeom prst="rect">
            <a:avLst/>
          </a:prstGeom>
          <a:noFill/>
          <a:ln/>
        </p:spPr>
        <p:txBody>
          <a:bodyPr wrap="square" rtlCol="0" anchor="ctr"/>
          <a:lstStyle/>
          <a:p>
            <a:pPr marL="342900" indent="-342900">
              <a:spcAft>
                <a:spcPts val="500"/>
              </a:spcAft>
              <a:buSzPct val="100000"/>
              <a:buChar char="•"/>
            </a:pPr>
            <a:r>
              <a:rPr lang="en-US" sz="1250" dirty="0">
                <a:solidFill>
                  <a:srgbClr val="1A1A2E"/>
                </a:solidFill>
                <a:latin typeface="Calibri" pitchFamily="34" charset="0"/>
                <a:ea typeface="Calibri" pitchFamily="34" charset="-122"/>
                <a:cs typeface="Calibri" pitchFamily="34" charset="-120"/>
              </a:rPr>
              <a:t>Manual golden-path testing: register → browse → cart → checkout → pay → track</a:t>
            </a:r>
            <a:endParaRPr lang="en-US" sz="1250" dirty="0"/>
          </a:p>
          <a:p>
            <a:pPr marL="342900" indent="-342900">
              <a:spcAft>
                <a:spcPts val="500"/>
              </a:spcAft>
              <a:buSzPct val="100000"/>
              <a:buChar char="•"/>
            </a:pPr>
            <a:r>
              <a:rPr lang="en-US" sz="1250" dirty="0">
                <a:solidFill>
                  <a:srgbClr val="1A1A2E"/>
                </a:solidFill>
                <a:latin typeface="Calibri" pitchFamily="34" charset="0"/>
                <a:ea typeface="Calibri" pitchFamily="34" charset="-122"/>
                <a:cs typeface="Calibri" pitchFamily="34" charset="-120"/>
              </a:rPr>
              <a:t>Admin flow: quote fee → confirm payment → status transitions</a:t>
            </a:r>
            <a:endParaRPr lang="en-US" sz="1250" dirty="0"/>
          </a:p>
          <a:p>
            <a:pPr marL="342900" indent="-342900">
              <a:spcAft>
                <a:spcPts val="500"/>
              </a:spcAft>
              <a:buSzPct val="100000"/>
              <a:buChar char="•"/>
            </a:pPr>
            <a:r>
              <a:rPr lang="en-US" sz="1250" dirty="0">
                <a:solidFill>
                  <a:srgbClr val="1A1A2E"/>
                </a:solidFill>
                <a:latin typeface="Calibri" pitchFamily="34" charset="0"/>
                <a:ea typeface="Calibri" pitchFamily="34" charset="-122"/>
                <a:cs typeface="Calibri" pitchFamily="34" charset="-120"/>
              </a:rPr>
              <a:t>Cross-platform check: same endpoints serve both web and mobile</a:t>
            </a:r>
            <a:endParaRPr lang="en-US" sz="1250" dirty="0"/>
          </a:p>
          <a:p>
            <a:pPr marL="342900" indent="-342900">
              <a:buSzPct val="100000"/>
              <a:buChar char="•"/>
            </a:pPr>
            <a:r>
              <a:rPr lang="en-US" sz="1250" dirty="0">
                <a:solidFill>
                  <a:srgbClr val="1A1A2E"/>
                </a:solidFill>
                <a:latin typeface="Calibri" pitchFamily="34" charset="0"/>
                <a:ea typeface="Calibri" pitchFamily="34" charset="-122"/>
                <a:cs typeface="Calibri" pitchFamily="34" charset="-120"/>
              </a:rPr>
              <a:t>Documented in docs/test-plan/ (test plan &amp; regression report)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4A1020"/>
        </a:solidFill>
      </p:bgPr>
    </p:bg>
    <p:spTree>
      <p:nvGrpSpPr>
        <p:cNvPr id="1" name=""/>
        <p:cNvGrpSpPr/>
        <p:nvPr/>
      </p:nvGrpSpPr>
      <p:grpSpPr>
        <a:xfrm>
          <a:off x="0" y="0"/>
          <a:ext cx="0" cy="0"/>
          <a:chOff x="0" y="0"/>
          <a:chExt cx="0" cy="0"/>
        </a:xfrm>
      </p:grpSpPr>
      <p:sp>
        <p:nvSpPr>
          <p:cNvPr id="2" name="Shape 0"/>
          <p:cNvSpPr/>
          <p:nvPr/>
        </p:nvSpPr>
        <p:spPr>
          <a:xfrm>
            <a:off x="-1188720" y="2743200"/>
            <a:ext cx="3657600" cy="3657600"/>
          </a:xfrm>
          <a:prstGeom prst="ellipse">
            <a:avLst/>
          </a:prstGeom>
          <a:solidFill>
            <a:srgbClr val="6B1A2B"/>
          </a:solidFill>
          <a:ln/>
        </p:spPr>
      </p:sp>
      <p:sp>
        <p:nvSpPr>
          <p:cNvPr id="3" name="Shape 1"/>
          <p:cNvSpPr/>
          <p:nvPr/>
        </p:nvSpPr>
        <p:spPr>
          <a:xfrm>
            <a:off x="7680960" y="-1371600"/>
            <a:ext cx="3291840" cy="3291840"/>
          </a:xfrm>
          <a:prstGeom prst="ellipse">
            <a:avLst/>
          </a:prstGeom>
          <a:solidFill>
            <a:srgbClr val="6B1A2B"/>
          </a:solidFill>
          <a:ln w="12700">
            <a:solidFill>
              <a:srgbClr val="A26769"/>
            </a:solidFill>
            <a:prstDash val="solid"/>
          </a:ln>
        </p:spPr>
      </p:sp>
      <p:sp>
        <p:nvSpPr>
          <p:cNvPr id="4" name="Shape 2"/>
          <p:cNvSpPr/>
          <p:nvPr/>
        </p:nvSpPr>
        <p:spPr>
          <a:xfrm>
            <a:off x="4114800" y="640080"/>
            <a:ext cx="914400" cy="914400"/>
          </a:xfrm>
          <a:prstGeom prst="ellipse">
            <a:avLst/>
          </a:prstGeom>
          <a:solidFill>
            <a:srgbClr val="FFFFFF"/>
          </a:solidFill>
          <a:ln/>
        </p:spPr>
      </p:sp>
      <p:pic>
        <p:nvPicPr>
          <p:cNvPr id="5" name="Image 0" descr="preencoded.png">    </p:cNvPr>
          <p:cNvPicPr>
            <a:picLocks noChangeAspect="1"/>
          </p:cNvPicPr>
          <p:nvPr/>
        </p:nvPicPr>
        <p:blipFill>
          <a:blip r:embed="rId1"/>
          <a:stretch>
            <a:fillRect/>
          </a:stretch>
        </p:blipFill>
        <p:spPr>
          <a:xfrm>
            <a:off x="4370832" y="896112"/>
            <a:ext cx="402336" cy="402336"/>
          </a:xfrm>
          <a:prstGeom prst="rect">
            <a:avLst/>
          </a:prstGeom>
        </p:spPr>
      </p:pic>
      <p:sp>
        <p:nvSpPr>
          <p:cNvPr id="6" name="Text 3"/>
          <p:cNvSpPr/>
          <p:nvPr/>
        </p:nvSpPr>
        <p:spPr>
          <a:xfrm>
            <a:off x="457200" y="1737360"/>
            <a:ext cx="8229600" cy="731520"/>
          </a:xfrm>
          <a:prstGeom prst="rect">
            <a:avLst/>
          </a:prstGeom>
          <a:noFill/>
          <a:ln/>
        </p:spPr>
        <p:txBody>
          <a:bodyPr wrap="square"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Thank You!</a:t>
            </a:r>
            <a:endParaRPr lang="en-US" sz="4200" dirty="0"/>
          </a:p>
        </p:txBody>
      </p:sp>
      <p:sp>
        <p:nvSpPr>
          <p:cNvPr id="7" name="Text 4"/>
          <p:cNvSpPr/>
          <p:nvPr/>
        </p:nvSpPr>
        <p:spPr>
          <a:xfrm>
            <a:off x="1280160" y="2560320"/>
            <a:ext cx="6583680" cy="731520"/>
          </a:xfrm>
          <a:prstGeom prst="rect">
            <a:avLst/>
          </a:prstGeom>
          <a:noFill/>
          <a:ln/>
        </p:spPr>
        <p:txBody>
          <a:bodyPr wrap="square" rtlCol="0" anchor="ctr"/>
          <a:lstStyle/>
          <a:p>
            <a:pPr algn="ctr" indent="0" marL="0">
              <a:buNone/>
            </a:pPr>
            <a:r>
              <a:rPr lang="en-US" sz="1400" i="1" dirty="0">
                <a:solidFill>
                  <a:srgbClr val="F5E8EB"/>
                </a:solidFill>
                <a:latin typeface="Calibri" pitchFamily="34" charset="0"/>
                <a:ea typeface="Calibri" pitchFamily="34" charset="-122"/>
                <a:cs typeface="Calibri" pitchFamily="34" charset="-120"/>
              </a:rPr>
              <a:t>Doughly Crumbl — a working 3-platform ordering system with REST integration, layered + MVVM design, real-time notifications, and design patterns.</a:t>
            </a:r>
            <a:endParaRPr lang="en-US" sz="1400" dirty="0"/>
          </a:p>
        </p:txBody>
      </p:sp>
      <p:sp>
        <p:nvSpPr>
          <p:cNvPr id="8" name="Text 5"/>
          <p:cNvSpPr/>
          <p:nvPr/>
        </p:nvSpPr>
        <p:spPr>
          <a:xfrm>
            <a:off x="457200" y="3520440"/>
            <a:ext cx="8229600" cy="365760"/>
          </a:xfrm>
          <a:prstGeom prst="rect">
            <a:avLst/>
          </a:prstGeom>
          <a:noFill/>
          <a:ln/>
        </p:spPr>
        <p:txBody>
          <a:bodyPr wrap="square" rtlCol="0" anchor="ctr"/>
          <a:lstStyle/>
          <a:p>
            <a:pPr algn="ctr" indent="0" marL="0">
              <a:buNone/>
            </a:pPr>
            <a:r>
              <a:rPr lang="en-US" sz="1200" b="1" dirty="0">
                <a:solidFill>
                  <a:srgbClr val="A26769"/>
                </a:solidFill>
                <a:latin typeface="Calibri" pitchFamily="34" charset="0"/>
                <a:ea typeface="Calibri" pitchFamily="34" charset="-122"/>
                <a:cs typeface="Calibri" pitchFamily="34" charset="-120"/>
              </a:rPr>
              <a:t>Future work:  </a:t>
            </a:r>
            <a:pPr algn="ctr" indent="0" marL="0">
              <a:buNone/>
            </a:pPr>
            <a:r>
              <a:rPr lang="en-US" sz="1200" dirty="0">
                <a:solidFill>
                  <a:srgbClr val="FFFFFF"/>
                </a:solidFill>
                <a:latin typeface="Calibri" pitchFamily="34" charset="0"/>
                <a:ea typeface="Calibri" pitchFamily="34" charset="-122"/>
                <a:cs typeface="Calibri" pitchFamily="34" charset="-120"/>
              </a:rPr>
              <a:t>Google OAuth  •  automated PayMongo payments  •  email notifications</a:t>
            </a:r>
            <a:endParaRPr lang="en-US" sz="1200" dirty="0"/>
          </a:p>
        </p:txBody>
      </p:sp>
      <p:sp>
        <p:nvSpPr>
          <p:cNvPr id="9" name="Text 6"/>
          <p:cNvSpPr/>
          <p:nvPr/>
        </p:nvSpPr>
        <p:spPr>
          <a:xfrm>
            <a:off x="457200" y="4297680"/>
            <a:ext cx="8229600" cy="3657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[Your Name]   |   [Course &amp; Section]   |   Group 5 — Cabatana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Doughly Crumbl - Final Project Presentation</dc:title>
  <dc:subject>PptxGenJS Presentation</dc:subject>
  <dc:creator>Doughly Crumbl - G5 Cabatana</dc:creator>
  <cp:lastModifiedBy>Doughly Crumbl - G5 Cabatana</cp:lastModifiedBy>
  <cp:revision>1</cp:revision>
  <dcterms:created xsi:type="dcterms:W3CDTF">2026-05-24T15:22:05Z</dcterms:created>
  <dcterms:modified xsi:type="dcterms:W3CDTF">2026-05-24T15:22:05Z</dcterms:modified>
</cp:coreProperties>
</file>